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7" r:id="rId5"/>
    <p:sldId id="268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-6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BC1BC-606F-35C5-B0A0-F7BA8A512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D75DB1-299C-F5E3-D46C-4EB2DC10B7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77BAC2-5814-C7D5-8F2F-07DDFF3539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5B3CB0-57B8-3A77-5763-467093413D6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65345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155C5-5C25-D3E2-350F-0D03D8D49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019EC8-F62E-7B1F-20A5-214E1D595C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5B027A-4648-BC49-BAF6-E542467E3A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437A2-76AC-2673-FF22-09A9EEB8374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787714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rostokąt 4">
            <a:extLst>
              <a:ext uri="{FF2B5EF4-FFF2-40B4-BE49-F238E27FC236}">
                <a16:creationId xmlns:a16="http://schemas.microsoft.com/office/drawing/2014/main" id="{A6BAE88F-CFA4-49EA-BFD5-D8A4956AF620}"/>
              </a:ext>
            </a:extLst>
          </p:cNvPr>
          <p:cNvSpPr>
            <a:spLocks noGrp="1"/>
          </p:cNvSpPr>
          <p:nvPr/>
        </p:nvSpPr>
        <p:spPr>
          <a:xfrm>
            <a:off x="1619250" y="438150"/>
            <a:ext cx="8953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3750" b="1">
                <a:solidFill>
                  <a:srgbClr val="F6F7FB"/>
                </a:solidFill>
              </a:defRPr>
            </a:pPr>
            <a:r>
              <a:rPr sz="3750" b="1" dirty="0">
                <a:solidFill>
                  <a:srgbClr val="F6F7FB"/>
                </a:solidFill>
              </a:rPr>
              <a:t>Conditional Face Generation</a:t>
            </a:r>
          </a:p>
          <a:p>
            <a:pPr algn="ctr">
              <a:defRPr sz="3750" b="1">
                <a:solidFill>
                  <a:srgbClr val="F6F7FB"/>
                </a:solidFill>
              </a:defRPr>
            </a:pPr>
            <a:r>
              <a:rPr sz="3750" b="1" dirty="0">
                <a:solidFill>
                  <a:srgbClr val="F6F7FB"/>
                </a:solidFill>
              </a:rPr>
              <a:t>using CVAE</a:t>
            </a:r>
          </a:p>
        </p:txBody>
      </p:sp>
      <p:sp>
        <p:nvSpPr>
          <p:cNvPr id="2" name="Prostokąt 1">
            <a:extLst>
              <a:ext uri="{FF2B5EF4-FFF2-40B4-BE49-F238E27FC236}">
                <a16:creationId xmlns:a16="http://schemas.microsoft.com/office/drawing/2014/main" id="{DBFC5EB6-F30D-4A04-B329-D1145C74A31E}"/>
              </a:ext>
            </a:extLst>
          </p:cNvPr>
          <p:cNvSpPr>
            <a:spLocks noGrp="1"/>
          </p:cNvSpPr>
          <p:nvPr/>
        </p:nvSpPr>
        <p:spPr>
          <a:xfrm>
            <a:off x="2381250" y="1647825"/>
            <a:ext cx="7429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75">
                <a:solidFill>
                  <a:srgbClr val="B7C0D1"/>
                </a:solidFill>
              </a:defRPr>
            </a:pPr>
            <a:r>
              <a:rPr sz="1575" dirty="0">
                <a:solidFill>
                  <a:srgbClr val="B7C0D1"/>
                </a:solidFill>
              </a:rPr>
              <a:t>Generating and editing faces from </a:t>
            </a:r>
            <a:r>
              <a:rPr sz="1575" dirty="0" err="1">
                <a:solidFill>
                  <a:srgbClr val="B7C0D1"/>
                </a:solidFill>
              </a:rPr>
              <a:t>faci</a:t>
            </a:r>
            <a:r>
              <a:rPr lang="pl-PL" sz="1575" dirty="0">
                <a:solidFill>
                  <a:srgbClr val="B7C0D1"/>
                </a:solidFill>
              </a:rPr>
              <a:t>a</a:t>
            </a:r>
            <a:r>
              <a:rPr sz="1575" dirty="0">
                <a:solidFill>
                  <a:srgbClr val="B7C0D1"/>
                </a:solidFill>
              </a:rPr>
              <a:t>l attributes</a:t>
            </a:r>
          </a:p>
        </p:txBody>
      </p:sp>
      <p:sp>
        <p:nvSpPr>
          <p:cNvPr id="4" name="Prostokąt: zaokrąglone rogi 3">
            <a:extLst>
              <a:ext uri="{FF2B5EF4-FFF2-40B4-BE49-F238E27FC236}">
                <a16:creationId xmlns:a16="http://schemas.microsoft.com/office/drawing/2014/main" id="{861C0CCD-DF47-4981-A65C-2E4C2C4A63CA}"/>
              </a:ext>
            </a:extLst>
          </p:cNvPr>
          <p:cNvSpPr>
            <a:spLocks noGrp="1"/>
          </p:cNvSpPr>
          <p:nvPr/>
        </p:nvSpPr>
        <p:spPr>
          <a:xfrm>
            <a:off x="3429000" y="2219325"/>
            <a:ext cx="5334000" cy="4038600"/>
          </a:xfrm>
          <a:prstGeom prst="roundRect">
            <a:avLst>
              <a:gd name="adj" fmla="val 5660"/>
            </a:avLst>
          </a:prstGeom>
          <a:solidFill>
            <a:srgbClr val="1F2530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pic>
        <p:nvPicPr>
          <p:cNvPr id="12" name="Obraz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381500" y="2524125"/>
            <a:ext cx="3429000" cy="3429000"/>
          </a:xfrm>
          <a:prstGeom prst="roundRect">
            <a:avLst>
              <a:gd name="adj" fmla="val 4444"/>
            </a:avLst>
          </a:prstGeom>
        </p:spPr>
      </p:pic>
    </p:spTree>
    <p:extLst>
      <p:ext uri="{BB962C8B-B14F-4D97-AF65-F5344CB8AC3E}">
        <p14:creationId xmlns:p14="http://schemas.microsoft.com/office/powerpoint/2010/main" val="3406244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rostokąt 14">
            <a:extLst>
              <a:ext uri="{FF2B5EF4-FFF2-40B4-BE49-F238E27FC236}">
                <a16:creationId xmlns:a16="http://schemas.microsoft.com/office/drawing/2014/main" id="{EDD7A70C-34C6-4B0E-9539-7620023ACF3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9334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3300" b="1">
                <a:solidFill>
                  <a:srgbClr val="F6F7FB"/>
                </a:solidFill>
              </a:defRPr>
            </a:pPr>
            <a:r>
              <a:rPr lang="pl-PL" sz="3300" b="1" dirty="0">
                <a:solidFill>
                  <a:srgbClr val="F6F7FB"/>
                </a:solidFill>
              </a:rPr>
              <a:t>Project </a:t>
            </a:r>
            <a:r>
              <a:rPr lang="pl-PL" sz="3300" b="1" dirty="0" err="1">
                <a:solidFill>
                  <a:srgbClr val="F6F7FB"/>
                </a:solidFill>
              </a:rPr>
              <a:t>Goals</a:t>
            </a:r>
            <a:endParaRPr sz="3300" b="1" dirty="0">
              <a:solidFill>
                <a:srgbClr val="F6F7FB"/>
              </a:solidFill>
            </a:endParaRPr>
          </a:p>
        </p:txBody>
      </p:sp>
      <p:sp>
        <p:nvSpPr>
          <p:cNvPr id="2" name="Prostokąt 1">
            <a:extLst>
              <a:ext uri="{FF2B5EF4-FFF2-40B4-BE49-F238E27FC236}">
                <a16:creationId xmlns:a16="http://schemas.microsoft.com/office/drawing/2014/main" id="{05A5CFCB-42EC-4CC2-9B13-34418BFC4275}"/>
              </a:ext>
            </a:extLst>
          </p:cNvPr>
          <p:cNvSpPr>
            <a:spLocks noGrp="1"/>
          </p:cNvSpPr>
          <p:nvPr/>
        </p:nvSpPr>
        <p:spPr>
          <a:xfrm>
            <a:off x="609600" y="1009649"/>
            <a:ext cx="9334500" cy="268770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pl-PL" sz="2400" dirty="0">
                <a:solidFill>
                  <a:schemeClr val="bg1">
                    <a:lumMod val="85000"/>
                  </a:schemeClr>
                </a:solidFill>
              </a:rPr>
              <a:t>The </a:t>
            </a:r>
            <a:r>
              <a:rPr lang="pl-PL" sz="2400" dirty="0" err="1">
                <a:solidFill>
                  <a:schemeClr val="bg1">
                    <a:lumMod val="85000"/>
                  </a:schemeClr>
                </a:solidFill>
              </a:rPr>
              <a:t>main</a:t>
            </a:r>
            <a:r>
              <a:rPr lang="pl-PL" sz="24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2400" dirty="0" err="1">
                <a:solidFill>
                  <a:schemeClr val="bg1">
                    <a:lumMod val="85000"/>
                  </a:schemeClr>
                </a:solidFill>
              </a:rPr>
              <a:t>objective</a:t>
            </a:r>
            <a:r>
              <a:rPr lang="pl-PL" sz="24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2400" dirty="0" err="1">
                <a:solidFill>
                  <a:schemeClr val="bg1">
                    <a:lumMod val="85000"/>
                  </a:schemeClr>
                </a:solidFill>
              </a:rPr>
              <a:t>is</a:t>
            </a:r>
            <a:r>
              <a:rPr lang="pl-PL" sz="2400" dirty="0">
                <a:solidFill>
                  <a:schemeClr val="bg1">
                    <a:lumMod val="85000"/>
                  </a:schemeClr>
                </a:solidFill>
              </a:rPr>
              <a:t> to </a:t>
            </a:r>
            <a:r>
              <a:rPr lang="pl-PL" sz="2400" dirty="0" err="1">
                <a:solidFill>
                  <a:schemeClr val="bg1">
                    <a:lumMod val="85000"/>
                  </a:schemeClr>
                </a:solidFill>
              </a:rPr>
              <a:t>investigate</a:t>
            </a:r>
            <a:r>
              <a:rPr lang="pl-PL" sz="24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2400" dirty="0" err="1">
                <a:solidFill>
                  <a:schemeClr val="bg1">
                    <a:lumMod val="85000"/>
                  </a:schemeClr>
                </a:solidFill>
              </a:rPr>
              <a:t>whether</a:t>
            </a:r>
            <a:r>
              <a:rPr lang="pl-PL" sz="2400" dirty="0">
                <a:solidFill>
                  <a:schemeClr val="bg1">
                    <a:lumMod val="85000"/>
                  </a:schemeClr>
                </a:solidFill>
              </a:rPr>
              <a:t> a CVAE </a:t>
            </a:r>
            <a:r>
              <a:rPr lang="pl-PL" sz="2400" dirty="0" err="1">
                <a:solidFill>
                  <a:schemeClr val="bg1">
                    <a:lumMod val="85000"/>
                  </a:schemeClr>
                </a:solidFill>
              </a:rPr>
              <a:t>can</a:t>
            </a:r>
            <a:r>
              <a:rPr lang="pl-PL" sz="2400" dirty="0">
                <a:solidFill>
                  <a:schemeClr val="bg1">
                    <a:lumMod val="85000"/>
                  </a:schemeClr>
                </a:solidFill>
              </a:rPr>
              <a:t>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2000" dirty="0" err="1">
                <a:solidFill>
                  <a:schemeClr val="bg1">
                    <a:lumMod val="85000"/>
                  </a:schemeClr>
                </a:solidFill>
              </a:rPr>
              <a:t>generate</a:t>
            </a:r>
            <a:r>
              <a:rPr lang="pl-PL" sz="20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2000" dirty="0" err="1">
                <a:solidFill>
                  <a:schemeClr val="bg1">
                    <a:lumMod val="85000"/>
                  </a:schemeClr>
                </a:solidFill>
              </a:rPr>
              <a:t>realistic</a:t>
            </a:r>
            <a:r>
              <a:rPr lang="pl-PL" sz="2000" dirty="0">
                <a:solidFill>
                  <a:schemeClr val="bg1">
                    <a:lumMod val="85000"/>
                  </a:schemeClr>
                </a:solidFill>
              </a:rPr>
              <a:t> face </a:t>
            </a:r>
            <a:r>
              <a:rPr lang="pl-PL" sz="2000" dirty="0" err="1">
                <a:solidFill>
                  <a:schemeClr val="bg1">
                    <a:lumMod val="85000"/>
                  </a:schemeClr>
                </a:solidFill>
              </a:rPr>
              <a:t>images</a:t>
            </a:r>
            <a:r>
              <a:rPr lang="pl-PL" sz="20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2000" dirty="0" err="1">
                <a:solidFill>
                  <a:schemeClr val="bg1">
                    <a:lumMod val="85000"/>
                  </a:schemeClr>
                </a:solidFill>
              </a:rPr>
              <a:t>conditioned</a:t>
            </a:r>
            <a:r>
              <a:rPr lang="pl-PL" sz="2000" dirty="0">
                <a:solidFill>
                  <a:schemeClr val="bg1">
                    <a:lumMod val="85000"/>
                  </a:schemeClr>
                </a:solidFill>
              </a:rPr>
              <a:t> on </a:t>
            </a:r>
            <a:r>
              <a:rPr lang="pl-PL" sz="2000" dirty="0" err="1">
                <a:solidFill>
                  <a:schemeClr val="bg1">
                    <a:lumMod val="85000"/>
                  </a:schemeClr>
                </a:solidFill>
              </a:rPr>
              <a:t>facial</a:t>
            </a:r>
            <a:r>
              <a:rPr lang="pl-PL" sz="20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2000" dirty="0" err="1">
                <a:solidFill>
                  <a:schemeClr val="bg1">
                    <a:lumMod val="85000"/>
                  </a:schemeClr>
                </a:solidFill>
              </a:rPr>
              <a:t>attributes</a:t>
            </a:r>
            <a:r>
              <a:rPr lang="pl-PL" sz="2000" dirty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2000" dirty="0" err="1">
                <a:solidFill>
                  <a:schemeClr val="bg1">
                    <a:lumMod val="85000"/>
                  </a:schemeClr>
                </a:solidFill>
              </a:rPr>
              <a:t>Reconstruct</a:t>
            </a:r>
            <a:r>
              <a:rPr lang="pl-PL" sz="2000" dirty="0">
                <a:solidFill>
                  <a:schemeClr val="bg1">
                    <a:lumMod val="85000"/>
                  </a:schemeClr>
                </a:solidFill>
              </a:rPr>
              <a:t> input </a:t>
            </a:r>
            <a:r>
              <a:rPr lang="pl-PL" sz="2000" dirty="0" err="1">
                <a:solidFill>
                  <a:schemeClr val="bg1">
                    <a:lumMod val="85000"/>
                  </a:schemeClr>
                </a:solidFill>
              </a:rPr>
              <a:t>images</a:t>
            </a:r>
            <a:r>
              <a:rPr lang="pl-PL" sz="20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2000" dirty="0" err="1">
                <a:solidFill>
                  <a:schemeClr val="bg1">
                    <a:lumMod val="85000"/>
                  </a:schemeClr>
                </a:solidFill>
              </a:rPr>
              <a:t>while</a:t>
            </a:r>
            <a:r>
              <a:rPr lang="pl-PL" sz="20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2000" dirty="0" err="1">
                <a:solidFill>
                  <a:schemeClr val="bg1">
                    <a:lumMod val="85000"/>
                  </a:schemeClr>
                </a:solidFill>
              </a:rPr>
              <a:t>preserving</a:t>
            </a:r>
            <a:r>
              <a:rPr lang="pl-PL" sz="20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2000" dirty="0" err="1">
                <a:solidFill>
                  <a:schemeClr val="bg1">
                    <a:lumMod val="85000"/>
                  </a:schemeClr>
                </a:solidFill>
              </a:rPr>
              <a:t>important</a:t>
            </a:r>
            <a:r>
              <a:rPr lang="pl-PL" sz="20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2000" dirty="0" err="1">
                <a:solidFill>
                  <a:schemeClr val="bg1">
                    <a:lumMod val="85000"/>
                  </a:schemeClr>
                </a:solidFill>
              </a:rPr>
              <a:t>facial</a:t>
            </a:r>
            <a:r>
              <a:rPr lang="pl-PL" sz="20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2000" dirty="0" err="1">
                <a:solidFill>
                  <a:schemeClr val="bg1">
                    <a:lumMod val="85000"/>
                  </a:schemeClr>
                </a:solidFill>
              </a:rPr>
              <a:t>features</a:t>
            </a:r>
            <a:r>
              <a:rPr lang="pl-PL" sz="2000" dirty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2000" dirty="0" err="1">
                <a:solidFill>
                  <a:schemeClr val="bg1">
                    <a:lumMod val="85000"/>
                  </a:schemeClr>
                </a:solidFill>
              </a:rPr>
              <a:t>Modify</a:t>
            </a:r>
            <a:r>
              <a:rPr lang="pl-PL" sz="20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2000" dirty="0" err="1">
                <a:solidFill>
                  <a:schemeClr val="bg1">
                    <a:lumMod val="85000"/>
                  </a:schemeClr>
                </a:solidFill>
              </a:rPr>
              <a:t>selected</a:t>
            </a:r>
            <a:r>
              <a:rPr lang="pl-PL" sz="20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2000" dirty="0" err="1">
                <a:solidFill>
                  <a:schemeClr val="bg1">
                    <a:lumMod val="85000"/>
                  </a:schemeClr>
                </a:solidFill>
              </a:rPr>
              <a:t>attributes</a:t>
            </a:r>
            <a:r>
              <a:rPr lang="pl-PL" sz="2000" dirty="0">
                <a:solidFill>
                  <a:schemeClr val="bg1">
                    <a:lumMod val="85000"/>
                  </a:schemeClr>
                </a:solidFill>
              </a:rPr>
              <a:t> (</a:t>
            </a:r>
            <a:r>
              <a:rPr lang="pl-PL" sz="2000" dirty="0" err="1">
                <a:solidFill>
                  <a:schemeClr val="bg1">
                    <a:lumMod val="85000"/>
                  </a:schemeClr>
                </a:solidFill>
              </a:rPr>
              <a:t>e.g</a:t>
            </a:r>
            <a:r>
              <a:rPr lang="pl-PL" sz="2000" dirty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pl-PL" sz="2000" dirty="0" err="1">
                <a:solidFill>
                  <a:schemeClr val="bg1">
                    <a:lumMod val="85000"/>
                  </a:schemeClr>
                </a:solidFill>
              </a:rPr>
              <a:t>gender</a:t>
            </a:r>
            <a:r>
              <a:rPr lang="pl-PL" sz="2000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pl-PL" sz="2000" dirty="0" err="1">
                <a:solidFill>
                  <a:schemeClr val="bg1">
                    <a:lumMod val="85000"/>
                  </a:schemeClr>
                </a:solidFill>
              </a:rPr>
              <a:t>eyeglasses</a:t>
            </a:r>
            <a:r>
              <a:rPr lang="pl-PL" sz="2000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pl-PL" sz="2000" dirty="0" err="1">
                <a:solidFill>
                  <a:schemeClr val="bg1">
                    <a:lumMod val="85000"/>
                  </a:schemeClr>
                </a:solidFill>
              </a:rPr>
              <a:t>hair</a:t>
            </a:r>
            <a:r>
              <a:rPr lang="pl-PL" sz="20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2000" dirty="0" err="1">
                <a:solidFill>
                  <a:schemeClr val="bg1">
                    <a:lumMod val="85000"/>
                  </a:schemeClr>
                </a:solidFill>
              </a:rPr>
              <a:t>color</a:t>
            </a:r>
            <a:r>
              <a:rPr lang="pl-PL" sz="2000" dirty="0">
                <a:solidFill>
                  <a:schemeClr val="bg1">
                    <a:lumMod val="85000"/>
                  </a:schemeClr>
                </a:solidFill>
              </a:rPr>
              <a:t>) </a:t>
            </a:r>
            <a:r>
              <a:rPr lang="pl-PL" sz="2000" dirty="0" err="1">
                <a:solidFill>
                  <a:schemeClr val="bg1">
                    <a:lumMod val="85000"/>
                  </a:schemeClr>
                </a:solidFill>
              </a:rPr>
              <a:t>while</a:t>
            </a:r>
            <a:r>
              <a:rPr lang="pl-PL" sz="20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2000" dirty="0" err="1">
                <a:solidFill>
                  <a:schemeClr val="bg1">
                    <a:lumMod val="85000"/>
                  </a:schemeClr>
                </a:solidFill>
              </a:rPr>
              <a:t>maintaining</a:t>
            </a:r>
            <a:r>
              <a:rPr lang="pl-PL" sz="2000" dirty="0">
                <a:solidFill>
                  <a:schemeClr val="bg1">
                    <a:lumMod val="85000"/>
                  </a:schemeClr>
                </a:solidFill>
              </a:rPr>
              <a:t> the </a:t>
            </a:r>
            <a:r>
              <a:rPr lang="pl-PL" sz="2000" dirty="0" err="1">
                <a:solidFill>
                  <a:schemeClr val="bg1">
                    <a:lumMod val="85000"/>
                  </a:schemeClr>
                </a:solidFill>
              </a:rPr>
              <a:t>identity</a:t>
            </a:r>
            <a:r>
              <a:rPr lang="pl-PL" sz="2000" dirty="0">
                <a:solidFill>
                  <a:schemeClr val="bg1">
                    <a:lumMod val="85000"/>
                  </a:schemeClr>
                </a:solidFill>
              </a:rPr>
              <a:t> of the person.</a:t>
            </a:r>
          </a:p>
        </p:txBody>
      </p:sp>
      <p:pic>
        <p:nvPicPr>
          <p:cNvPr id="18" name="Obraz 17">
            <a:extLst>
              <a:ext uri="{FF2B5EF4-FFF2-40B4-BE49-F238E27FC236}">
                <a16:creationId xmlns:a16="http://schemas.microsoft.com/office/drawing/2014/main" id="{1F5B80DD-99B3-DA98-C110-A80D76AC4B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8952" y="3429000"/>
            <a:ext cx="2804381" cy="2804381"/>
          </a:xfrm>
          <a:prstGeom prst="rect">
            <a:avLst/>
          </a:prstGeom>
        </p:spPr>
      </p:pic>
      <p:pic>
        <p:nvPicPr>
          <p:cNvPr id="20" name="Obraz 19">
            <a:extLst>
              <a:ext uri="{FF2B5EF4-FFF2-40B4-BE49-F238E27FC236}">
                <a16:creationId xmlns:a16="http://schemas.microsoft.com/office/drawing/2014/main" id="{393A5683-B543-B2E1-706A-79A9423909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6526" y="3429000"/>
            <a:ext cx="2804381" cy="2785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5458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rostokąt 4">
            <a:extLst>
              <a:ext uri="{FF2B5EF4-FFF2-40B4-BE49-F238E27FC236}">
                <a16:creationId xmlns:a16="http://schemas.microsoft.com/office/drawing/2014/main" id="{7D0447CB-038F-4CCF-B438-AE7E56BCB8C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9334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3300" b="1">
                <a:solidFill>
                  <a:srgbClr val="F6F7FB"/>
                </a:solidFill>
              </a:defRPr>
            </a:pPr>
            <a:r>
              <a:rPr sz="3300" b="1">
                <a:solidFill>
                  <a:srgbClr val="F6F7FB"/>
                </a:solidFill>
              </a:rPr>
              <a:t>Dataset: CelebA</a:t>
            </a:r>
          </a:p>
        </p:txBody>
      </p:sp>
      <p:sp>
        <p:nvSpPr>
          <p:cNvPr id="2" name="Prostokąt 1">
            <a:extLst>
              <a:ext uri="{FF2B5EF4-FFF2-40B4-BE49-F238E27FC236}">
                <a16:creationId xmlns:a16="http://schemas.microsoft.com/office/drawing/2014/main" id="{FA141289-3682-45EA-B242-E940B6286A64}"/>
              </a:ext>
            </a:extLst>
          </p:cNvPr>
          <p:cNvSpPr>
            <a:spLocks noGrp="1"/>
          </p:cNvSpPr>
          <p:nvPr/>
        </p:nvSpPr>
        <p:spPr>
          <a:xfrm>
            <a:off x="609600" y="100965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>
                <a:solidFill>
                  <a:srgbClr val="B7C0D1"/>
                </a:solidFill>
              </a:defRPr>
            </a:pPr>
            <a:r>
              <a:rPr sz="1500" dirty="0">
                <a:solidFill>
                  <a:srgbClr val="B7C0D1"/>
                </a:solidFill>
              </a:rPr>
              <a:t>Centered face crops with binary attributes make conditional generation possible.</a:t>
            </a:r>
          </a:p>
        </p:txBody>
      </p:sp>
      <p:sp>
        <p:nvSpPr>
          <p:cNvPr id="4" name="Prostokąt: zaokrąglone rogi 3">
            <a:extLst>
              <a:ext uri="{FF2B5EF4-FFF2-40B4-BE49-F238E27FC236}">
                <a16:creationId xmlns:a16="http://schemas.microsoft.com/office/drawing/2014/main" id="{4D362627-8DCB-4F6C-9024-A30B9D083209}"/>
              </a:ext>
            </a:extLst>
          </p:cNvPr>
          <p:cNvSpPr>
            <a:spLocks noGrp="1"/>
          </p:cNvSpPr>
          <p:nvPr/>
        </p:nvSpPr>
        <p:spPr>
          <a:xfrm>
            <a:off x="666750" y="1371600"/>
            <a:ext cx="7067550" cy="5416826"/>
          </a:xfrm>
          <a:prstGeom prst="roundRect">
            <a:avLst>
              <a:gd name="adj" fmla="val 4800"/>
            </a:avLst>
          </a:prstGeom>
          <a:solidFill>
            <a:srgbClr val="232A35"/>
          </a:solidFill>
          <a:ln w="9525">
            <a:solidFill>
              <a:srgbClr val="313C4D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FEE6E954-9BA9-408A-A324-58EE76513774}"/>
              </a:ext>
            </a:extLst>
          </p:cNvPr>
          <p:cNvSpPr>
            <a:spLocks noGrp="1"/>
          </p:cNvSpPr>
          <p:nvPr/>
        </p:nvSpPr>
        <p:spPr>
          <a:xfrm>
            <a:off x="7933082" y="1609725"/>
            <a:ext cx="3810000" cy="4572000"/>
          </a:xfrm>
          <a:prstGeom prst="roundRect">
            <a:avLst>
              <a:gd name="adj" fmla="val 6000"/>
            </a:avLst>
          </a:prstGeom>
          <a:solidFill>
            <a:srgbClr val="232A35"/>
          </a:solidFill>
          <a:ln w="9525">
            <a:solidFill>
              <a:srgbClr val="313C4D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9B2D532E-822C-4AB1-B392-8AE352D0B402}"/>
              </a:ext>
            </a:extLst>
          </p:cNvPr>
          <p:cNvSpPr>
            <a:spLocks noGrp="1"/>
          </p:cNvSpPr>
          <p:nvPr/>
        </p:nvSpPr>
        <p:spPr>
          <a:xfrm>
            <a:off x="8096250" y="2114550"/>
            <a:ext cx="2857500" cy="1676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100" b="1">
                <a:solidFill>
                  <a:srgbClr val="F6F7FB"/>
                </a:solidFill>
              </a:defRPr>
            </a:pPr>
            <a:r>
              <a:rPr sz="2100" b="1" dirty="0">
                <a:solidFill>
                  <a:srgbClr val="F6F7FB"/>
                </a:solidFill>
              </a:rPr>
              <a:t>200k images</a:t>
            </a:r>
          </a:p>
          <a:p>
            <a:pPr>
              <a:defRPr sz="2100" b="1">
                <a:solidFill>
                  <a:srgbClr val="F6F7FB"/>
                </a:solidFill>
              </a:defRPr>
            </a:pPr>
            <a:r>
              <a:rPr sz="2100" b="1" dirty="0">
                <a:solidFill>
                  <a:srgbClr val="F6F7FB"/>
                </a:solidFill>
              </a:rPr>
              <a:t>40 attributes</a:t>
            </a:r>
          </a:p>
          <a:p>
            <a:pPr>
              <a:defRPr sz="2100" b="1">
                <a:solidFill>
                  <a:srgbClr val="F6F7FB"/>
                </a:solidFill>
              </a:defRPr>
            </a:pPr>
            <a:r>
              <a:rPr lang="pl-PL" sz="2100" b="1" dirty="0" err="1"/>
              <a:t>Original</a:t>
            </a:r>
            <a:r>
              <a:rPr lang="pl-PL" sz="2100" b="1" dirty="0"/>
              <a:t> </a:t>
            </a:r>
            <a:r>
              <a:rPr lang="pl-PL" sz="2100" b="1" dirty="0" err="1"/>
              <a:t>size</a:t>
            </a:r>
            <a:r>
              <a:rPr lang="pl-PL" sz="2100" b="1" dirty="0"/>
              <a:t> 178 × 218</a:t>
            </a:r>
          </a:p>
          <a:p>
            <a:pPr>
              <a:defRPr sz="2100" b="1">
                <a:solidFill>
                  <a:srgbClr val="F6F7FB"/>
                </a:solidFill>
              </a:defRPr>
            </a:pPr>
            <a:r>
              <a:rPr lang="pl-PL" sz="2100" b="1" dirty="0" err="1"/>
              <a:t>Scale</a:t>
            </a:r>
            <a:r>
              <a:rPr lang="pl-PL" sz="2100" b="1" dirty="0"/>
              <a:t> </a:t>
            </a:r>
            <a:r>
              <a:rPr lang="pl-PL" sz="2100" b="1" dirty="0" err="1"/>
              <a:t>it</a:t>
            </a:r>
            <a:r>
              <a:rPr lang="pl-PL" sz="2100" b="1" dirty="0"/>
              <a:t> to 64x64</a:t>
            </a:r>
          </a:p>
          <a:p>
            <a:pPr>
              <a:defRPr sz="2100" b="1">
                <a:solidFill>
                  <a:srgbClr val="F6F7FB"/>
                </a:solidFill>
              </a:defRPr>
            </a:pPr>
            <a:endParaRPr sz="2100" b="1" dirty="0">
              <a:solidFill>
                <a:srgbClr val="F6F7FB"/>
              </a:solidFill>
            </a:endParaRPr>
          </a:p>
        </p:txBody>
      </p:sp>
      <p:sp>
        <p:nvSpPr>
          <p:cNvPr id="9" name="Prostokąt 8">
            <a:extLst>
              <a:ext uri="{FF2B5EF4-FFF2-40B4-BE49-F238E27FC236}">
                <a16:creationId xmlns:a16="http://schemas.microsoft.com/office/drawing/2014/main" id="{3AAC7704-9395-4D3B-8905-7014594B700E}"/>
              </a:ext>
            </a:extLst>
          </p:cNvPr>
          <p:cNvSpPr>
            <a:spLocks noGrp="1"/>
          </p:cNvSpPr>
          <p:nvPr/>
        </p:nvSpPr>
        <p:spPr>
          <a:xfrm>
            <a:off x="8229600" y="3790950"/>
            <a:ext cx="8763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 b="1">
                <a:solidFill>
                  <a:srgbClr val="F6F7FB"/>
                </a:solidFill>
              </a:defRPr>
            </a:pPr>
            <a:endParaRPr sz="1125" b="1" dirty="0">
              <a:solidFill>
                <a:srgbClr val="F6F7FB"/>
              </a:solidFill>
            </a:endParaRPr>
          </a:p>
        </p:txBody>
      </p:sp>
      <p:sp>
        <p:nvSpPr>
          <p:cNvPr id="20" name="Prostokąt 19">
            <a:extLst>
              <a:ext uri="{FF2B5EF4-FFF2-40B4-BE49-F238E27FC236}">
                <a16:creationId xmlns:a16="http://schemas.microsoft.com/office/drawing/2014/main" id="{4C8436E7-2D82-4A72-90D9-CBA36AB6B65A}"/>
              </a:ext>
            </a:extLst>
          </p:cNvPr>
          <p:cNvSpPr>
            <a:spLocks noGrp="1"/>
          </p:cNvSpPr>
          <p:nvPr/>
        </p:nvSpPr>
        <p:spPr>
          <a:xfrm>
            <a:off x="8096250" y="4857750"/>
            <a:ext cx="2857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B7C0D1"/>
                </a:solidFill>
              </a:defRPr>
            </a:pPr>
            <a:endParaRPr sz="1350" dirty="0">
              <a:solidFill>
                <a:srgbClr val="B7C0D1"/>
              </a:solidFill>
            </a:endParaRPr>
          </a:p>
        </p:txBody>
      </p:sp>
      <p:pic>
        <p:nvPicPr>
          <p:cNvPr id="22" name="Obraz 21">
            <a:extLst>
              <a:ext uri="{FF2B5EF4-FFF2-40B4-BE49-F238E27FC236}">
                <a16:creationId xmlns:a16="http://schemas.microsoft.com/office/drawing/2014/main" id="{F49F09F1-ED59-C2A2-C480-6F5D25AEB5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170" y="1485900"/>
            <a:ext cx="4992596" cy="5231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5099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BC2978-4E4B-9A76-1626-8C9C73CEB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rostokąt 4">
            <a:extLst>
              <a:ext uri="{FF2B5EF4-FFF2-40B4-BE49-F238E27FC236}">
                <a16:creationId xmlns:a16="http://schemas.microsoft.com/office/drawing/2014/main" id="{9E679E73-3C9E-AD37-D27A-5DDBC53119E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9334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3300" b="1">
                <a:solidFill>
                  <a:srgbClr val="F6F7FB"/>
                </a:solidFill>
              </a:defRPr>
            </a:pPr>
            <a:r>
              <a:rPr lang="pl-PL" sz="3300" b="1" dirty="0" err="1">
                <a:solidFill>
                  <a:srgbClr val="F6F7FB"/>
                </a:solidFill>
              </a:rPr>
              <a:t>Generation</a:t>
            </a:r>
            <a:endParaRPr sz="3300" b="1" dirty="0">
              <a:solidFill>
                <a:srgbClr val="F6F7FB"/>
              </a:solidFill>
            </a:endParaRPr>
          </a:p>
        </p:txBody>
      </p:sp>
      <p:sp>
        <p:nvSpPr>
          <p:cNvPr id="2" name="Prostokąt 1">
            <a:extLst>
              <a:ext uri="{FF2B5EF4-FFF2-40B4-BE49-F238E27FC236}">
                <a16:creationId xmlns:a16="http://schemas.microsoft.com/office/drawing/2014/main" id="{9C36E8AF-0E36-B89D-BD98-017DFEE29089}"/>
              </a:ext>
            </a:extLst>
          </p:cNvPr>
          <p:cNvSpPr>
            <a:spLocks noGrp="1"/>
          </p:cNvSpPr>
          <p:nvPr/>
        </p:nvSpPr>
        <p:spPr>
          <a:xfrm>
            <a:off x="609600" y="100965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>
                <a:solidFill>
                  <a:srgbClr val="B7C0D1"/>
                </a:solidFill>
              </a:defRPr>
            </a:pPr>
            <a:endParaRPr sz="1600" dirty="0">
              <a:solidFill>
                <a:srgbClr val="B7C0D1"/>
              </a:solidFill>
            </a:endParaRPr>
          </a:p>
        </p:txBody>
      </p:sp>
      <p:sp>
        <p:nvSpPr>
          <p:cNvPr id="4" name="Prostokąt: zaokrąglone rogi 3">
            <a:extLst>
              <a:ext uri="{FF2B5EF4-FFF2-40B4-BE49-F238E27FC236}">
                <a16:creationId xmlns:a16="http://schemas.microsoft.com/office/drawing/2014/main" id="{1710FF74-752B-A7BA-6B10-2D9A06D57705}"/>
              </a:ext>
            </a:extLst>
          </p:cNvPr>
          <p:cNvSpPr>
            <a:spLocks noGrp="1"/>
          </p:cNvSpPr>
          <p:nvPr/>
        </p:nvSpPr>
        <p:spPr>
          <a:xfrm>
            <a:off x="572742" y="2382203"/>
            <a:ext cx="10972800" cy="4267200"/>
          </a:xfrm>
          <a:prstGeom prst="roundRect">
            <a:avLst>
              <a:gd name="adj" fmla="val 4800"/>
            </a:avLst>
          </a:prstGeom>
          <a:solidFill>
            <a:srgbClr val="232A35"/>
          </a:solidFill>
          <a:ln w="9525">
            <a:solidFill>
              <a:srgbClr val="313C4D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AFAFDF6E-FD09-BDAB-275C-FF71E8C012C3}"/>
              </a:ext>
            </a:extLst>
          </p:cNvPr>
          <p:cNvSpPr>
            <a:spLocks noGrp="1"/>
          </p:cNvSpPr>
          <p:nvPr/>
        </p:nvSpPr>
        <p:spPr>
          <a:xfrm>
            <a:off x="819150" y="5753100"/>
            <a:ext cx="971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B7C0D1"/>
                </a:solidFill>
              </a:defRPr>
            </a:pPr>
            <a:endParaRPr sz="1350" dirty="0">
              <a:solidFill>
                <a:srgbClr val="B7C0D1"/>
              </a:solidFill>
            </a:endParaRP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223766C2-C267-4734-16E8-2427368E52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6474" y="2456676"/>
            <a:ext cx="4090372" cy="4096845"/>
          </a:xfrm>
          <a:prstGeom prst="rect">
            <a:avLst/>
          </a:prstGeom>
        </p:spPr>
      </p:pic>
      <p:sp>
        <p:nvSpPr>
          <p:cNvPr id="8" name="pole tekstowe 7">
            <a:extLst>
              <a:ext uri="{FF2B5EF4-FFF2-40B4-BE49-F238E27FC236}">
                <a16:creationId xmlns:a16="http://schemas.microsoft.com/office/drawing/2014/main" id="{B08301DB-0BB4-AAC0-11BE-9EC37BC0E084}"/>
              </a:ext>
            </a:extLst>
          </p:cNvPr>
          <p:cNvSpPr txBox="1"/>
          <p:nvPr/>
        </p:nvSpPr>
        <p:spPr>
          <a:xfrm>
            <a:off x="621808" y="3429000"/>
            <a:ext cx="32898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Female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, </a:t>
            </a:r>
          </a:p>
          <a:p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Blond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Hair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, </a:t>
            </a:r>
          </a:p>
          <a:p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Young, </a:t>
            </a:r>
          </a:p>
          <a:p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Smilling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, </a:t>
            </a:r>
          </a:p>
          <a:p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Rosy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Cheeks</a:t>
            </a:r>
            <a:endParaRPr lang="pl-PL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59B77195-93FE-7DFC-6A5C-538F4058DA49}"/>
              </a:ext>
            </a:extLst>
          </p:cNvPr>
          <p:cNvSpPr txBox="1"/>
          <p:nvPr/>
        </p:nvSpPr>
        <p:spPr>
          <a:xfrm>
            <a:off x="6153009" y="3781067"/>
            <a:ext cx="32898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Male, </a:t>
            </a:r>
          </a:p>
          <a:p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Old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, </a:t>
            </a:r>
          </a:p>
          <a:p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Black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Hair</a:t>
            </a:r>
            <a:endParaRPr lang="pl-PL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3" name="Obraz 12">
            <a:extLst>
              <a:ext uri="{FF2B5EF4-FFF2-40B4-BE49-F238E27FC236}">
                <a16:creationId xmlns:a16="http://schemas.microsoft.com/office/drawing/2014/main" id="{CA31F05F-C350-D63B-CE53-E8AFC19AA0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0578" y="2456675"/>
            <a:ext cx="4096846" cy="4096846"/>
          </a:xfrm>
          <a:prstGeom prst="rect">
            <a:avLst/>
          </a:prstGeom>
        </p:spPr>
      </p:pic>
      <p:sp>
        <p:nvSpPr>
          <p:cNvPr id="15" name="pole tekstowe 14">
            <a:extLst>
              <a:ext uri="{FF2B5EF4-FFF2-40B4-BE49-F238E27FC236}">
                <a16:creationId xmlns:a16="http://schemas.microsoft.com/office/drawing/2014/main" id="{DCB9F141-FCDC-EDD5-5754-130927143F88}"/>
              </a:ext>
            </a:extLst>
          </p:cNvPr>
          <p:cNvSpPr txBox="1"/>
          <p:nvPr/>
        </p:nvSpPr>
        <p:spPr>
          <a:xfrm>
            <a:off x="628369" y="980896"/>
            <a:ext cx="110492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The model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generates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more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realistic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faces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when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the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selected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attributes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commonly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occur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together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in the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training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data.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Consistent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attribute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combinations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such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as </a:t>
            </a:r>
            <a:r>
              <a:rPr lang="pl-PL" i="1" dirty="0" err="1">
                <a:solidFill>
                  <a:schemeClr val="bg1">
                    <a:lumMod val="85000"/>
                  </a:schemeClr>
                </a:solidFill>
              </a:rPr>
              <a:t>young</a:t>
            </a:r>
            <a:r>
              <a:rPr lang="pl-PL" i="1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i="1" dirty="0" err="1">
                <a:solidFill>
                  <a:schemeClr val="bg1">
                    <a:lumMod val="85000"/>
                  </a:schemeClr>
                </a:solidFill>
              </a:rPr>
              <a:t>female</a:t>
            </a:r>
            <a:r>
              <a:rPr lang="pl-PL" i="1" dirty="0">
                <a:solidFill>
                  <a:schemeClr val="bg1">
                    <a:lumMod val="85000"/>
                  </a:schemeClr>
                </a:solidFill>
              </a:rPr>
              <a:t> with blond </a:t>
            </a:r>
            <a:r>
              <a:rPr lang="pl-PL" i="1" dirty="0" err="1">
                <a:solidFill>
                  <a:schemeClr val="bg1">
                    <a:lumMod val="85000"/>
                  </a:schemeClr>
                </a:solidFill>
              </a:rPr>
              <a:t>hair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or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i="1" dirty="0" err="1">
                <a:solidFill>
                  <a:schemeClr val="bg1">
                    <a:lumMod val="85000"/>
                  </a:schemeClr>
                </a:solidFill>
              </a:rPr>
              <a:t>older</a:t>
            </a:r>
            <a:r>
              <a:rPr lang="pl-PL" i="1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i="1" dirty="0" err="1">
                <a:solidFill>
                  <a:schemeClr val="bg1">
                    <a:lumMod val="85000"/>
                  </a:schemeClr>
                </a:solidFill>
              </a:rPr>
              <a:t>male</a:t>
            </a:r>
            <a:r>
              <a:rPr lang="pl-PL" i="1" dirty="0">
                <a:solidFill>
                  <a:schemeClr val="bg1">
                    <a:lumMod val="85000"/>
                  </a:schemeClr>
                </a:solidFill>
              </a:rPr>
              <a:t> with </a:t>
            </a:r>
            <a:r>
              <a:rPr lang="pl-PL" i="1" dirty="0" err="1">
                <a:solidFill>
                  <a:schemeClr val="bg1">
                    <a:lumMod val="85000"/>
                  </a:schemeClr>
                </a:solidFill>
              </a:rPr>
              <a:t>black</a:t>
            </a:r>
            <a:r>
              <a:rPr lang="pl-PL" i="1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i="1" dirty="0" err="1">
                <a:solidFill>
                  <a:schemeClr val="bg1">
                    <a:lumMod val="85000"/>
                  </a:schemeClr>
                </a:solidFill>
              </a:rPr>
              <a:t>hair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produce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more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coherent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and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visually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plausible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results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61655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93D318-E681-D8DE-291F-CB76F55B9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rostokąt 4">
            <a:extLst>
              <a:ext uri="{FF2B5EF4-FFF2-40B4-BE49-F238E27FC236}">
                <a16:creationId xmlns:a16="http://schemas.microsoft.com/office/drawing/2014/main" id="{7457D866-5FC3-3786-F6F7-3F0DC27D503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9334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3300" b="1">
                <a:solidFill>
                  <a:srgbClr val="F6F7FB"/>
                </a:solidFill>
              </a:defRPr>
            </a:pPr>
            <a:r>
              <a:rPr lang="pl-PL" sz="3300" b="1" dirty="0" err="1">
                <a:solidFill>
                  <a:srgbClr val="F6F7FB"/>
                </a:solidFill>
              </a:rPr>
              <a:t>Generation</a:t>
            </a:r>
            <a:r>
              <a:rPr lang="pl-PL" sz="3300" b="1" dirty="0">
                <a:solidFill>
                  <a:srgbClr val="F6F7FB"/>
                </a:solidFill>
              </a:rPr>
              <a:t> - </a:t>
            </a:r>
            <a:r>
              <a:rPr lang="pl-PL" sz="3300" b="1" dirty="0" err="1">
                <a:solidFill>
                  <a:srgbClr val="F6F7FB"/>
                </a:solidFill>
              </a:rPr>
              <a:t>Limitations</a:t>
            </a:r>
            <a:endParaRPr sz="3300" b="1" dirty="0">
              <a:solidFill>
                <a:srgbClr val="F6F7FB"/>
              </a:solidFill>
            </a:endParaRPr>
          </a:p>
        </p:txBody>
      </p:sp>
      <p:sp>
        <p:nvSpPr>
          <p:cNvPr id="2" name="Prostokąt 1">
            <a:extLst>
              <a:ext uri="{FF2B5EF4-FFF2-40B4-BE49-F238E27FC236}">
                <a16:creationId xmlns:a16="http://schemas.microsoft.com/office/drawing/2014/main" id="{51B82197-966D-96C1-9EDC-0B4BC7399F97}"/>
              </a:ext>
            </a:extLst>
          </p:cNvPr>
          <p:cNvSpPr>
            <a:spLocks noGrp="1"/>
          </p:cNvSpPr>
          <p:nvPr/>
        </p:nvSpPr>
        <p:spPr>
          <a:xfrm>
            <a:off x="609600" y="100965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>
                <a:solidFill>
                  <a:srgbClr val="B7C0D1"/>
                </a:solidFill>
              </a:defRPr>
            </a:pPr>
            <a:endParaRPr sz="1600" dirty="0">
              <a:solidFill>
                <a:srgbClr val="B7C0D1"/>
              </a:solidFill>
            </a:endParaRPr>
          </a:p>
        </p:txBody>
      </p:sp>
      <p:sp>
        <p:nvSpPr>
          <p:cNvPr id="4" name="Prostokąt: zaokrąglone rogi 3">
            <a:extLst>
              <a:ext uri="{FF2B5EF4-FFF2-40B4-BE49-F238E27FC236}">
                <a16:creationId xmlns:a16="http://schemas.microsoft.com/office/drawing/2014/main" id="{ADA71E65-EAC9-1330-8C29-53EB9BF7217D}"/>
              </a:ext>
            </a:extLst>
          </p:cNvPr>
          <p:cNvSpPr>
            <a:spLocks noGrp="1"/>
          </p:cNvSpPr>
          <p:nvPr/>
        </p:nvSpPr>
        <p:spPr>
          <a:xfrm>
            <a:off x="501926" y="2470302"/>
            <a:ext cx="10972800" cy="4267200"/>
          </a:xfrm>
          <a:prstGeom prst="roundRect">
            <a:avLst>
              <a:gd name="adj" fmla="val 4800"/>
            </a:avLst>
          </a:prstGeom>
          <a:solidFill>
            <a:srgbClr val="232A35"/>
          </a:solidFill>
          <a:ln w="9525">
            <a:solidFill>
              <a:srgbClr val="313C4D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6D1098BC-5345-689E-E816-DBECF4082295}"/>
              </a:ext>
            </a:extLst>
          </p:cNvPr>
          <p:cNvSpPr>
            <a:spLocks noGrp="1"/>
          </p:cNvSpPr>
          <p:nvPr/>
        </p:nvSpPr>
        <p:spPr>
          <a:xfrm>
            <a:off x="819150" y="5753100"/>
            <a:ext cx="971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B7C0D1"/>
                </a:solidFill>
              </a:defRPr>
            </a:pPr>
            <a:endParaRPr sz="1350" dirty="0">
              <a:solidFill>
                <a:srgbClr val="B7C0D1"/>
              </a:solidFill>
            </a:endParaRP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78DA6FC5-52E1-4186-47C5-4755778447F0}"/>
              </a:ext>
            </a:extLst>
          </p:cNvPr>
          <p:cNvSpPr txBox="1"/>
          <p:nvPr/>
        </p:nvSpPr>
        <p:spPr>
          <a:xfrm>
            <a:off x="612499" y="4280737"/>
            <a:ext cx="3289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Female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, </a:t>
            </a:r>
          </a:p>
          <a:p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Mustache</a:t>
            </a:r>
            <a:endParaRPr lang="pl-PL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AC106740-A763-14B1-6EED-F28090A8FE05}"/>
              </a:ext>
            </a:extLst>
          </p:cNvPr>
          <p:cNvSpPr txBox="1"/>
          <p:nvPr/>
        </p:nvSpPr>
        <p:spPr>
          <a:xfrm>
            <a:off x="6096000" y="3906982"/>
            <a:ext cx="32898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Female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, </a:t>
            </a:r>
          </a:p>
          <a:p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Wavy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hair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, </a:t>
            </a:r>
          </a:p>
          <a:p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Earings</a:t>
            </a:r>
            <a:endParaRPr lang="pl-PL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23FC85DD-C85B-CEE2-9803-D525B2C9C1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350" y="2535963"/>
            <a:ext cx="4177748" cy="4138764"/>
          </a:xfrm>
          <a:prstGeom prst="rect">
            <a:avLst/>
          </a:prstGeom>
        </p:spPr>
      </p:pic>
      <p:pic>
        <p:nvPicPr>
          <p:cNvPr id="12" name="Obraz 11">
            <a:extLst>
              <a:ext uri="{FF2B5EF4-FFF2-40B4-BE49-F238E27FC236}">
                <a16:creationId xmlns:a16="http://schemas.microsoft.com/office/drawing/2014/main" id="{D2D47F45-4F27-3D81-C726-1967149991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5102" y="2515181"/>
            <a:ext cx="4177748" cy="4158104"/>
          </a:xfrm>
          <a:prstGeom prst="rect">
            <a:avLst/>
          </a:prstGeom>
        </p:spPr>
      </p:pic>
      <p:sp>
        <p:nvSpPr>
          <p:cNvPr id="15" name="pole tekstowe 14">
            <a:extLst>
              <a:ext uri="{FF2B5EF4-FFF2-40B4-BE49-F238E27FC236}">
                <a16:creationId xmlns:a16="http://schemas.microsoft.com/office/drawing/2014/main" id="{4EED40F1-8156-C960-B7FB-45AAA734FF36}"/>
              </a:ext>
            </a:extLst>
          </p:cNvPr>
          <p:cNvSpPr txBox="1"/>
          <p:nvPr/>
        </p:nvSpPr>
        <p:spPr>
          <a:xfrm>
            <a:off x="609600" y="1085850"/>
            <a:ext cx="10972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Small and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infrequent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attributes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such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as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earrings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are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often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not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generated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reliably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. The model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appears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to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focus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on dominant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facial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features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and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may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ignore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details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that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occupy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only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a small region of the image.</a:t>
            </a:r>
            <a:r>
              <a:rPr lang="pl-PL" dirty="0"/>
              <a:t> </a:t>
            </a:r>
          </a:p>
          <a:p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Conflicting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attribute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combinations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are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also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challenging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. For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example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requesting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a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female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face with a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mustache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often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produces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weak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or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inconsistent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results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because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such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combinations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are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rare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or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absent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in the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training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dataset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479566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rostokąt 4">
            <a:extLst>
              <a:ext uri="{FF2B5EF4-FFF2-40B4-BE49-F238E27FC236}">
                <a16:creationId xmlns:a16="http://schemas.microsoft.com/office/drawing/2014/main" id="{D62DD357-BF8D-4FBE-B8C7-24CD4494039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9334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3300" b="1">
                <a:solidFill>
                  <a:srgbClr val="F6F7FB"/>
                </a:solidFill>
              </a:defRPr>
            </a:pPr>
            <a:r>
              <a:rPr sz="3300" b="1">
                <a:solidFill>
                  <a:srgbClr val="F6F7FB"/>
                </a:solidFill>
              </a:rPr>
              <a:t>Reconstruction</a:t>
            </a:r>
          </a:p>
        </p:txBody>
      </p:sp>
      <p:sp>
        <p:nvSpPr>
          <p:cNvPr id="2" name="Prostokąt 1">
            <a:extLst>
              <a:ext uri="{FF2B5EF4-FFF2-40B4-BE49-F238E27FC236}">
                <a16:creationId xmlns:a16="http://schemas.microsoft.com/office/drawing/2014/main" id="{08A070A5-44C9-4862-BF02-4E6A719CDACB}"/>
              </a:ext>
            </a:extLst>
          </p:cNvPr>
          <p:cNvSpPr>
            <a:spLocks noGrp="1"/>
          </p:cNvSpPr>
          <p:nvPr/>
        </p:nvSpPr>
        <p:spPr>
          <a:xfrm>
            <a:off x="609600" y="1049935"/>
            <a:ext cx="11106150" cy="123091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>
                <a:solidFill>
                  <a:srgbClr val="B7C0D1"/>
                </a:solidFill>
              </a:defRPr>
            </a:pP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The model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successfully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preserves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the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overall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identity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and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structure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of the face.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Reconstructed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images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remain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visually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similar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to the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originals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, but fine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details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become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blurred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or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simplified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Hair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texture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eye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details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, and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facial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contours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are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often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less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sharp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indicating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that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the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latent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space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captures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global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appearance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more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effectively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than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subtle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visual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features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" name="Prostokąt: zaokrąglone rogi 3">
            <a:extLst>
              <a:ext uri="{FF2B5EF4-FFF2-40B4-BE49-F238E27FC236}">
                <a16:creationId xmlns:a16="http://schemas.microsoft.com/office/drawing/2014/main" id="{C4ECD43E-3D1D-4CEE-8A8A-DFC09FDFED3C}"/>
              </a:ext>
            </a:extLst>
          </p:cNvPr>
          <p:cNvSpPr>
            <a:spLocks noGrp="1"/>
          </p:cNvSpPr>
          <p:nvPr/>
        </p:nvSpPr>
        <p:spPr>
          <a:xfrm>
            <a:off x="609600" y="2362199"/>
            <a:ext cx="10972800" cy="4267200"/>
          </a:xfrm>
          <a:prstGeom prst="roundRect">
            <a:avLst>
              <a:gd name="adj" fmla="val 4800"/>
            </a:avLst>
          </a:prstGeom>
          <a:solidFill>
            <a:srgbClr val="232A35"/>
          </a:solidFill>
          <a:ln w="9525">
            <a:solidFill>
              <a:srgbClr val="313C4D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pic>
        <p:nvPicPr>
          <p:cNvPr id="11" name="Obraz 1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48366" y="3116859"/>
            <a:ext cx="10504818" cy="2636241"/>
          </a:xfrm>
          <a:prstGeom prst="roundRect">
            <a:avLst>
              <a:gd name="adj" fmla="val 3810"/>
            </a:avLst>
          </a:prstGeom>
        </p:spPr>
      </p:pic>
      <p:sp>
        <p:nvSpPr>
          <p:cNvPr id="6" name="Prostokąt 5">
            <a:extLst>
              <a:ext uri="{FF2B5EF4-FFF2-40B4-BE49-F238E27FC236}">
                <a16:creationId xmlns:a16="http://schemas.microsoft.com/office/drawing/2014/main" id="{44D382DC-8F8C-4014-B104-98839FC7A5FE}"/>
              </a:ext>
            </a:extLst>
          </p:cNvPr>
          <p:cNvSpPr>
            <a:spLocks noGrp="1"/>
          </p:cNvSpPr>
          <p:nvPr/>
        </p:nvSpPr>
        <p:spPr>
          <a:xfrm>
            <a:off x="819150" y="5753100"/>
            <a:ext cx="971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B7C0D1"/>
                </a:solidFill>
              </a:defRPr>
            </a:pPr>
            <a:endParaRPr sz="1350" dirty="0">
              <a:solidFill>
                <a:srgbClr val="B7C0D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6487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>
            <a:extLst>
              <a:ext uri="{FF2B5EF4-FFF2-40B4-BE49-F238E27FC236}">
                <a16:creationId xmlns:a16="http://schemas.microsoft.com/office/drawing/2014/main" id="{BABAAF52-9F6E-43A6-AC6F-A021119AB49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9334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3300" b="1">
                <a:solidFill>
                  <a:srgbClr val="F6F7FB"/>
                </a:solidFill>
              </a:defRPr>
            </a:pPr>
            <a:r>
              <a:rPr sz="3300" b="1" dirty="0">
                <a:solidFill>
                  <a:srgbClr val="F6F7FB"/>
                </a:solidFill>
              </a:rPr>
              <a:t>Attribute manipulation</a:t>
            </a:r>
          </a:p>
        </p:txBody>
      </p:sp>
      <p:sp>
        <p:nvSpPr>
          <p:cNvPr id="2" name="Prostokąt 1">
            <a:extLst>
              <a:ext uri="{FF2B5EF4-FFF2-40B4-BE49-F238E27FC236}">
                <a16:creationId xmlns:a16="http://schemas.microsoft.com/office/drawing/2014/main" id="{5522F3E6-3E35-48E2-AFD2-0DC17B4BA9CA}"/>
              </a:ext>
            </a:extLst>
          </p:cNvPr>
          <p:cNvSpPr>
            <a:spLocks noGrp="1"/>
          </p:cNvSpPr>
          <p:nvPr/>
        </p:nvSpPr>
        <p:spPr>
          <a:xfrm>
            <a:off x="609600" y="100965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>
                <a:solidFill>
                  <a:srgbClr val="B7C0D1"/>
                </a:solidFill>
              </a:defRPr>
            </a:pPr>
            <a:r>
              <a:rPr sz="1500" dirty="0">
                <a:solidFill>
                  <a:srgbClr val="B7C0D1"/>
                </a:solidFill>
              </a:rPr>
              <a:t>Same latent code, changing only the attribute vector.</a:t>
            </a:r>
          </a:p>
        </p:txBody>
      </p:sp>
      <p:sp>
        <p:nvSpPr>
          <p:cNvPr id="5" name="Prostokąt 4">
            <a:extLst>
              <a:ext uri="{FF2B5EF4-FFF2-40B4-BE49-F238E27FC236}">
                <a16:creationId xmlns:a16="http://schemas.microsoft.com/office/drawing/2014/main" id="{5FECE95C-7DB3-4117-BE99-8CEC470C8ACB}"/>
              </a:ext>
            </a:extLst>
          </p:cNvPr>
          <p:cNvSpPr>
            <a:spLocks noGrp="1"/>
          </p:cNvSpPr>
          <p:nvPr/>
        </p:nvSpPr>
        <p:spPr>
          <a:xfrm>
            <a:off x="1010892" y="1524000"/>
            <a:ext cx="1540565" cy="31505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 b="1">
                <a:solidFill>
                  <a:srgbClr val="F6F7FB"/>
                </a:solidFill>
              </a:defRPr>
            </a:pPr>
            <a:r>
              <a:rPr sz="1400" b="1" dirty="0">
                <a:solidFill>
                  <a:srgbClr val="F6F7FB"/>
                </a:solidFill>
              </a:rPr>
              <a:t>Male  1  →  </a:t>
            </a:r>
            <a:r>
              <a:rPr lang="pl-PL" sz="1400" b="1" dirty="0">
                <a:solidFill>
                  <a:srgbClr val="F6F7FB"/>
                </a:solidFill>
              </a:rPr>
              <a:t>-</a:t>
            </a:r>
            <a:r>
              <a:rPr sz="1400" b="1" dirty="0">
                <a:solidFill>
                  <a:srgbClr val="F6F7FB"/>
                </a:solidFill>
              </a:rPr>
              <a:t>1</a:t>
            </a:r>
          </a:p>
        </p:txBody>
      </p:sp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2D7AC4E3-3CE0-457C-BFC0-05558F28348A}"/>
              </a:ext>
            </a:extLst>
          </p:cNvPr>
          <p:cNvSpPr>
            <a:spLocks noGrp="1"/>
          </p:cNvSpPr>
          <p:nvPr/>
        </p:nvSpPr>
        <p:spPr>
          <a:xfrm>
            <a:off x="666750" y="1828800"/>
            <a:ext cx="10858500" cy="2152650"/>
          </a:xfrm>
          <a:prstGeom prst="roundRect">
            <a:avLst>
              <a:gd name="adj" fmla="val 10619"/>
            </a:avLst>
          </a:prstGeom>
          <a:solidFill>
            <a:srgbClr val="232A35"/>
          </a:solidFill>
          <a:ln w="9525">
            <a:solidFill>
              <a:srgbClr val="313C4D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pic>
        <p:nvPicPr>
          <p:cNvPr id="19" name="Obraz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57250" y="2220060"/>
            <a:ext cx="10477500" cy="1351081"/>
          </a:xfrm>
          <a:prstGeom prst="roundRect">
            <a:avLst>
              <a:gd name="adj" fmla="val 8333"/>
            </a:avLst>
          </a:prstGeom>
        </p:spPr>
      </p:pic>
      <p:sp>
        <p:nvSpPr>
          <p:cNvPr id="9" name="Prostokąt 8">
            <a:extLst>
              <a:ext uri="{FF2B5EF4-FFF2-40B4-BE49-F238E27FC236}">
                <a16:creationId xmlns:a16="http://schemas.microsoft.com/office/drawing/2014/main" id="{02A843E2-F75D-4BFD-95B3-BA2F463C69D6}"/>
              </a:ext>
            </a:extLst>
          </p:cNvPr>
          <p:cNvSpPr>
            <a:spLocks noGrp="1"/>
          </p:cNvSpPr>
          <p:nvPr/>
        </p:nvSpPr>
        <p:spPr>
          <a:xfrm>
            <a:off x="914400" y="4229100"/>
            <a:ext cx="17335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 b="1">
                <a:solidFill>
                  <a:srgbClr val="F6F7FB"/>
                </a:solidFill>
              </a:defRPr>
            </a:pPr>
            <a:r>
              <a:rPr sz="1125" b="1" dirty="0">
                <a:solidFill>
                  <a:srgbClr val="F6F7FB"/>
                </a:solidFill>
              </a:rPr>
              <a:t>Eyeglasses  1  →</a:t>
            </a:r>
            <a:r>
              <a:rPr lang="pl-PL" sz="1125" b="1" dirty="0">
                <a:solidFill>
                  <a:srgbClr val="F6F7FB"/>
                </a:solidFill>
              </a:rPr>
              <a:t> -1</a:t>
            </a:r>
            <a:endParaRPr sz="1125" b="1" dirty="0">
              <a:solidFill>
                <a:srgbClr val="F6F7FB"/>
              </a:solidFill>
            </a:endParaRPr>
          </a:p>
        </p:txBody>
      </p:sp>
      <p:sp>
        <p:nvSpPr>
          <p:cNvPr id="10" name="Prostokąt: zaokrąglone rogi 9">
            <a:extLst>
              <a:ext uri="{FF2B5EF4-FFF2-40B4-BE49-F238E27FC236}">
                <a16:creationId xmlns:a16="http://schemas.microsoft.com/office/drawing/2014/main" id="{EAACF3FA-2E1E-4000-849D-BB075902D6FF}"/>
              </a:ext>
            </a:extLst>
          </p:cNvPr>
          <p:cNvSpPr>
            <a:spLocks noGrp="1"/>
          </p:cNvSpPr>
          <p:nvPr/>
        </p:nvSpPr>
        <p:spPr>
          <a:xfrm>
            <a:off x="666750" y="4533900"/>
            <a:ext cx="10858500" cy="1619250"/>
          </a:xfrm>
          <a:prstGeom prst="roundRect">
            <a:avLst>
              <a:gd name="adj" fmla="val 14118"/>
            </a:avLst>
          </a:prstGeom>
          <a:solidFill>
            <a:srgbClr val="232A35"/>
          </a:solidFill>
          <a:ln w="9525">
            <a:solidFill>
              <a:srgbClr val="313C4D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pic>
        <p:nvPicPr>
          <p:cNvPr id="23" name="Obraz 2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25419" y="4667250"/>
            <a:ext cx="10341162" cy="1333500"/>
          </a:xfrm>
          <a:prstGeom prst="roundRect">
            <a:avLst>
              <a:gd name="adj" fmla="val 11429"/>
            </a:avLst>
          </a:prstGeom>
        </p:spPr>
      </p:pic>
      <p:sp>
        <p:nvSpPr>
          <p:cNvPr id="12" name="Prostokąt 11">
            <a:extLst>
              <a:ext uri="{FF2B5EF4-FFF2-40B4-BE49-F238E27FC236}">
                <a16:creationId xmlns:a16="http://schemas.microsoft.com/office/drawing/2014/main" id="{2557B40A-B9A7-4084-9401-88709DF39CA8}"/>
              </a:ext>
            </a:extLst>
          </p:cNvPr>
          <p:cNvSpPr>
            <a:spLocks noGrp="1"/>
          </p:cNvSpPr>
          <p:nvPr/>
        </p:nvSpPr>
        <p:spPr>
          <a:xfrm>
            <a:off x="781050" y="6210300"/>
            <a:ext cx="1047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B7C0D1"/>
                </a:solidFill>
              </a:defRPr>
            </a:pPr>
            <a:r>
              <a:rPr sz="1350">
                <a:solidFill>
                  <a:srgbClr val="B7C0D1"/>
                </a:solidFill>
              </a:rPr>
              <a:t>This is the proof that the CVAE is not just generating faces, but also moving along a controllable attribute direction.</a:t>
            </a:r>
          </a:p>
        </p:txBody>
      </p:sp>
    </p:spTree>
    <p:extLst>
      <p:ext uri="{BB962C8B-B14F-4D97-AF65-F5344CB8AC3E}">
        <p14:creationId xmlns:p14="http://schemas.microsoft.com/office/powerpoint/2010/main" val="6158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>
            <a:extLst>
              <a:ext uri="{FF2B5EF4-FFF2-40B4-BE49-F238E27FC236}">
                <a16:creationId xmlns:a16="http://schemas.microsoft.com/office/drawing/2014/main" id="{B4252BB7-C9DE-4ABD-AA9D-129D44CB02A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9334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3300" b="1">
                <a:solidFill>
                  <a:srgbClr val="F6F7FB"/>
                </a:solidFill>
              </a:defRPr>
            </a:pPr>
            <a:r>
              <a:rPr lang="pl-PL" sz="3300" b="1" dirty="0" err="1">
                <a:solidFill>
                  <a:srgbClr val="F6F7FB"/>
                </a:solidFill>
              </a:rPr>
              <a:t>Limitations</a:t>
            </a:r>
            <a:r>
              <a:rPr lang="pl-PL" sz="3300" b="1" dirty="0">
                <a:solidFill>
                  <a:srgbClr val="F6F7FB"/>
                </a:solidFill>
              </a:rPr>
              <a:t> - </a:t>
            </a:r>
            <a:r>
              <a:rPr lang="pl-PL" sz="3300" b="1" dirty="0" err="1">
                <a:solidFill>
                  <a:srgbClr val="F6F7FB"/>
                </a:solidFill>
              </a:rPr>
              <a:t>Attribute</a:t>
            </a:r>
            <a:r>
              <a:rPr lang="pl-PL" sz="3300" b="1" dirty="0">
                <a:solidFill>
                  <a:srgbClr val="F6F7FB"/>
                </a:solidFill>
              </a:rPr>
              <a:t> </a:t>
            </a:r>
            <a:r>
              <a:rPr lang="pl-PL" sz="3300" b="1" dirty="0" err="1">
                <a:solidFill>
                  <a:srgbClr val="F6F7FB"/>
                </a:solidFill>
              </a:rPr>
              <a:t>manipulation</a:t>
            </a:r>
            <a:endParaRPr lang="pl-PL" sz="3300" b="1" dirty="0">
              <a:solidFill>
                <a:srgbClr val="F6F7FB"/>
              </a:solidFill>
            </a:endParaRPr>
          </a:p>
          <a:p>
            <a:pPr>
              <a:defRPr sz="3300" b="1">
                <a:solidFill>
                  <a:srgbClr val="F6F7FB"/>
                </a:solidFill>
              </a:defRPr>
            </a:pPr>
            <a:endParaRPr sz="3300" b="1" dirty="0">
              <a:solidFill>
                <a:srgbClr val="F6F7FB"/>
              </a:solidFill>
            </a:endParaRPr>
          </a:p>
        </p:txBody>
      </p:sp>
      <p:sp>
        <p:nvSpPr>
          <p:cNvPr id="2" name="Prostokąt 1">
            <a:extLst>
              <a:ext uri="{FF2B5EF4-FFF2-40B4-BE49-F238E27FC236}">
                <a16:creationId xmlns:a16="http://schemas.microsoft.com/office/drawing/2014/main" id="{9563FC7F-6EBE-4DCF-B2EC-55FE86D34F76}"/>
              </a:ext>
            </a:extLst>
          </p:cNvPr>
          <p:cNvSpPr>
            <a:spLocks noGrp="1"/>
          </p:cNvSpPr>
          <p:nvPr/>
        </p:nvSpPr>
        <p:spPr>
          <a:xfrm>
            <a:off x="609599" y="1009650"/>
            <a:ext cx="11191875" cy="103324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>
                <a:solidFill>
                  <a:srgbClr val="B7C0D1"/>
                </a:solidFill>
              </a:defRPr>
            </a:pP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Changing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a single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attribute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can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affect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more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than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the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intended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feature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.</a:t>
            </a:r>
            <a:br>
              <a:rPr lang="pl-PL" sz="16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In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this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example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switching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i="1" dirty="0">
                <a:solidFill>
                  <a:schemeClr val="bg1">
                    <a:lumMod val="85000"/>
                  </a:schemeClr>
                </a:solidFill>
              </a:rPr>
              <a:t>Black </a:t>
            </a:r>
            <a:r>
              <a:rPr lang="pl-PL" sz="1600" i="1" dirty="0" err="1">
                <a:solidFill>
                  <a:schemeClr val="bg1">
                    <a:lumMod val="85000"/>
                  </a:schemeClr>
                </a:solidFill>
              </a:rPr>
              <a:t>Hair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to </a:t>
            </a:r>
            <a:r>
              <a:rPr lang="pl-PL" sz="1600" i="1" dirty="0">
                <a:solidFill>
                  <a:schemeClr val="bg1">
                    <a:lumMod val="85000"/>
                  </a:schemeClr>
                </a:solidFill>
              </a:rPr>
              <a:t>Blond </a:t>
            </a:r>
            <a:r>
              <a:rPr lang="pl-PL" sz="1600" i="1" dirty="0" err="1">
                <a:solidFill>
                  <a:schemeClr val="bg1">
                    <a:lumMod val="85000"/>
                  </a:schemeClr>
                </a:solidFill>
              </a:rPr>
              <a:t>Hair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changes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not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only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hair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color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, but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also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skin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tone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and the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overall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bg1">
                    <a:lumMod val="85000"/>
                  </a:schemeClr>
                </a:solidFill>
              </a:rPr>
              <a:t>appearance</a:t>
            </a:r>
            <a:r>
              <a:rPr lang="pl-PL" sz="1600" dirty="0">
                <a:solidFill>
                  <a:schemeClr val="bg1">
                    <a:lumMod val="85000"/>
                  </a:schemeClr>
                </a:solidFill>
              </a:rPr>
              <a:t> of the face.</a:t>
            </a:r>
            <a:endParaRPr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8" name="Prostokąt 27">
            <a:extLst>
              <a:ext uri="{FF2B5EF4-FFF2-40B4-BE49-F238E27FC236}">
                <a16:creationId xmlns:a16="http://schemas.microsoft.com/office/drawing/2014/main" id="{8119304B-292C-48B2-AAAB-B6E6E599A76F}"/>
              </a:ext>
            </a:extLst>
          </p:cNvPr>
          <p:cNvSpPr>
            <a:spLocks noGrp="1"/>
          </p:cNvSpPr>
          <p:nvPr/>
        </p:nvSpPr>
        <p:spPr>
          <a:xfrm>
            <a:off x="781050" y="6343650"/>
            <a:ext cx="1047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B7C0D1"/>
                </a:solidFill>
              </a:defRPr>
            </a:pPr>
            <a:r>
              <a:rPr sz="1350" dirty="0">
                <a:solidFill>
                  <a:srgbClr val="B7C0D1"/>
                </a:solidFill>
              </a:rPr>
              <a:t>The main story is visible even when the attribute is not perfectly isolated: the output still changes, but not always cleanly.</a:t>
            </a:r>
          </a:p>
        </p:txBody>
      </p:sp>
      <p:pic>
        <p:nvPicPr>
          <p:cNvPr id="11" name="Obraz 10">
            <a:extLst>
              <a:ext uri="{FF2B5EF4-FFF2-40B4-BE49-F238E27FC236}">
                <a16:creationId xmlns:a16="http://schemas.microsoft.com/office/drawing/2014/main" id="{3FE48915-49C9-E0C5-F051-B6030F82D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6603" y="2506042"/>
            <a:ext cx="3134162" cy="3096057"/>
          </a:xfrm>
          <a:prstGeom prst="rect">
            <a:avLst/>
          </a:prstGeom>
        </p:spPr>
      </p:pic>
      <p:pic>
        <p:nvPicPr>
          <p:cNvPr id="17" name="Obraz 16">
            <a:extLst>
              <a:ext uri="{FF2B5EF4-FFF2-40B4-BE49-F238E27FC236}">
                <a16:creationId xmlns:a16="http://schemas.microsoft.com/office/drawing/2014/main" id="{825ACBD4-09C1-4055-D0B3-F0A0E6FE06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1056" y="2477580"/>
            <a:ext cx="3134162" cy="3124519"/>
          </a:xfrm>
          <a:prstGeom prst="rect">
            <a:avLst/>
          </a:prstGeom>
        </p:spPr>
      </p:pic>
      <p:sp>
        <p:nvSpPr>
          <p:cNvPr id="19" name="pole tekstowe 18">
            <a:extLst>
              <a:ext uri="{FF2B5EF4-FFF2-40B4-BE49-F238E27FC236}">
                <a16:creationId xmlns:a16="http://schemas.microsoft.com/office/drawing/2014/main" id="{B55AF3C8-06BA-D8FA-91A7-CDC7F89D979E}"/>
              </a:ext>
            </a:extLst>
          </p:cNvPr>
          <p:cNvSpPr txBox="1"/>
          <p:nvPr/>
        </p:nvSpPr>
        <p:spPr>
          <a:xfrm>
            <a:off x="2450829" y="2089803"/>
            <a:ext cx="2454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Male, Black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hair</a:t>
            </a:r>
            <a:endParaRPr lang="pl-PL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0795DAB1-ED24-0F78-5E92-B660200583E4}"/>
              </a:ext>
            </a:extLst>
          </p:cNvPr>
          <p:cNvSpPr txBox="1"/>
          <p:nvPr/>
        </p:nvSpPr>
        <p:spPr>
          <a:xfrm>
            <a:off x="7487476" y="2066575"/>
            <a:ext cx="18188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Male, Blond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hair</a:t>
            </a:r>
            <a:endParaRPr lang="pl-PL" dirty="0">
              <a:solidFill>
                <a:schemeClr val="bg1">
                  <a:lumMod val="85000"/>
                </a:schemeClr>
              </a:solidFill>
            </a:endParaRP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36735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rostokąt 4">
            <a:extLst>
              <a:ext uri="{FF2B5EF4-FFF2-40B4-BE49-F238E27FC236}">
                <a16:creationId xmlns:a16="http://schemas.microsoft.com/office/drawing/2014/main" id="{82704A83-CBA4-4809-A498-6793B9BA5B0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9334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3300" b="1">
                <a:solidFill>
                  <a:srgbClr val="F6F7FB"/>
                </a:solidFill>
              </a:defRPr>
            </a:pPr>
            <a:r>
              <a:rPr lang="pl-PL" sz="3300" b="1" dirty="0" err="1"/>
              <a:t>Limitation</a:t>
            </a:r>
            <a:r>
              <a:rPr lang="pl-PL" sz="3300" b="1" dirty="0"/>
              <a:t>: </a:t>
            </a:r>
            <a:r>
              <a:rPr lang="pl-PL" sz="3300" b="1" dirty="0" err="1"/>
              <a:t>Incomplete</a:t>
            </a:r>
            <a:r>
              <a:rPr lang="pl-PL" sz="3300" b="1" dirty="0"/>
              <a:t> </a:t>
            </a:r>
            <a:r>
              <a:rPr lang="pl-PL" sz="3300" b="1" dirty="0" err="1"/>
              <a:t>Attribute</a:t>
            </a:r>
            <a:r>
              <a:rPr lang="pl-PL" sz="3300" b="1" dirty="0"/>
              <a:t> </a:t>
            </a:r>
            <a:r>
              <a:rPr lang="pl-PL" sz="3300" b="1" dirty="0" err="1"/>
              <a:t>Understanding</a:t>
            </a:r>
            <a:endParaRPr sz="3300" b="1" dirty="0">
              <a:solidFill>
                <a:srgbClr val="F6F7FB"/>
              </a:solidFill>
            </a:endParaRPr>
          </a:p>
        </p:txBody>
      </p:sp>
      <p:pic>
        <p:nvPicPr>
          <p:cNvPr id="19" name="Obraz 18">
            <a:extLst>
              <a:ext uri="{FF2B5EF4-FFF2-40B4-BE49-F238E27FC236}">
                <a16:creationId xmlns:a16="http://schemas.microsoft.com/office/drawing/2014/main" id="{D77DFEB9-459C-9688-93BA-787D484B0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89" y="2656902"/>
            <a:ext cx="3730910" cy="3708230"/>
          </a:xfrm>
          <a:prstGeom prst="rect">
            <a:avLst/>
          </a:prstGeom>
        </p:spPr>
      </p:pic>
      <p:pic>
        <p:nvPicPr>
          <p:cNvPr id="21" name="Obraz 20">
            <a:extLst>
              <a:ext uri="{FF2B5EF4-FFF2-40B4-BE49-F238E27FC236}">
                <a16:creationId xmlns:a16="http://schemas.microsoft.com/office/drawing/2014/main" id="{4776F029-2390-7AD1-03AB-C86C79850E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5419" y="2657040"/>
            <a:ext cx="3730911" cy="3708092"/>
          </a:xfrm>
          <a:prstGeom prst="rect">
            <a:avLst/>
          </a:prstGeom>
        </p:spPr>
      </p:pic>
      <p:sp>
        <p:nvSpPr>
          <p:cNvPr id="22" name="pole tekstowe 21">
            <a:extLst>
              <a:ext uri="{FF2B5EF4-FFF2-40B4-BE49-F238E27FC236}">
                <a16:creationId xmlns:a16="http://schemas.microsoft.com/office/drawing/2014/main" id="{1B91C108-BC26-C078-66F2-3226040F59C7}"/>
              </a:ext>
            </a:extLst>
          </p:cNvPr>
          <p:cNvSpPr txBox="1"/>
          <p:nvPr/>
        </p:nvSpPr>
        <p:spPr>
          <a:xfrm>
            <a:off x="781867" y="1085850"/>
            <a:ext cx="104559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The model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does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not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truly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understand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the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concept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of "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baldness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".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Instead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of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removing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hair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it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mainly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changes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the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appearance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of the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upper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hair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region.</a:t>
            </a:r>
          </a:p>
        </p:txBody>
      </p:sp>
      <p:sp>
        <p:nvSpPr>
          <p:cNvPr id="25" name="pole tekstowe 24">
            <a:extLst>
              <a:ext uri="{FF2B5EF4-FFF2-40B4-BE49-F238E27FC236}">
                <a16:creationId xmlns:a16="http://schemas.microsoft.com/office/drawing/2014/main" id="{0AD5883C-0E83-519F-E8BF-C8CFB7035B4F}"/>
              </a:ext>
            </a:extLst>
          </p:cNvPr>
          <p:cNvSpPr txBox="1"/>
          <p:nvPr/>
        </p:nvSpPr>
        <p:spPr>
          <a:xfrm>
            <a:off x="1802295" y="2142675"/>
            <a:ext cx="1868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Female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, Black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hair</a:t>
            </a:r>
            <a:endParaRPr lang="pl-PL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6" name="pole tekstowe 25">
            <a:extLst>
              <a:ext uri="{FF2B5EF4-FFF2-40B4-BE49-F238E27FC236}">
                <a16:creationId xmlns:a16="http://schemas.microsoft.com/office/drawing/2014/main" id="{189DB5A7-9609-3072-D204-E8B196BB9599}"/>
              </a:ext>
            </a:extLst>
          </p:cNvPr>
          <p:cNvSpPr txBox="1"/>
          <p:nvPr/>
        </p:nvSpPr>
        <p:spPr>
          <a:xfrm>
            <a:off x="7663495" y="2142675"/>
            <a:ext cx="2206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Female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Bald</a:t>
            </a:r>
            <a:endParaRPr lang="pl-PL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6808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rostokąt 21">
            <a:extLst>
              <a:ext uri="{FF2B5EF4-FFF2-40B4-BE49-F238E27FC236}">
                <a16:creationId xmlns:a16="http://schemas.microsoft.com/office/drawing/2014/main" id="{73727BEB-D3A6-4842-BDC3-0247AC081AA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9334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3300" b="1">
                <a:solidFill>
                  <a:srgbClr val="F6F7FB"/>
                </a:solidFill>
              </a:defRPr>
            </a:pPr>
            <a:r>
              <a:rPr lang="pl-PL" sz="3300" b="1" dirty="0" err="1">
                <a:solidFill>
                  <a:srgbClr val="F6F7FB"/>
                </a:solidFill>
              </a:rPr>
              <a:t>Final</a:t>
            </a:r>
            <a:r>
              <a:rPr lang="pl-PL" sz="3300" b="1" dirty="0">
                <a:solidFill>
                  <a:srgbClr val="F6F7FB"/>
                </a:solidFill>
              </a:rPr>
              <a:t> </a:t>
            </a:r>
            <a:r>
              <a:rPr sz="3300" b="1" dirty="0">
                <a:solidFill>
                  <a:srgbClr val="F6F7FB"/>
                </a:solidFill>
              </a:rPr>
              <a:t>Conclusions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A66ECED0-FDE7-059F-3088-C48007F091F8}"/>
              </a:ext>
            </a:extLst>
          </p:cNvPr>
          <p:cNvSpPr txBox="1"/>
          <p:nvPr/>
        </p:nvSpPr>
        <p:spPr>
          <a:xfrm>
            <a:off x="609600" y="1085850"/>
            <a:ext cx="11353801" cy="52168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pl-PL" b="1" dirty="0">
                <a:solidFill>
                  <a:schemeClr val="bg1">
                    <a:lumMod val="85000"/>
                  </a:schemeClr>
                </a:solidFill>
              </a:rPr>
              <a:t>1. </a:t>
            </a:r>
            <a:r>
              <a:rPr lang="pl-PL" b="1" dirty="0" err="1">
                <a:solidFill>
                  <a:schemeClr val="bg1">
                    <a:lumMod val="85000"/>
                  </a:schemeClr>
                </a:solidFill>
              </a:rPr>
              <a:t>Conditional</a:t>
            </a:r>
            <a:r>
              <a:rPr lang="pl-PL" b="1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b="1" dirty="0" err="1">
                <a:solidFill>
                  <a:schemeClr val="bg1">
                    <a:lumMod val="85000"/>
                  </a:schemeClr>
                </a:solidFill>
              </a:rPr>
              <a:t>generation</a:t>
            </a:r>
            <a:r>
              <a:rPr lang="pl-PL" b="1" dirty="0">
                <a:solidFill>
                  <a:schemeClr val="bg1">
                    <a:lumMod val="85000"/>
                  </a:schemeClr>
                </a:solidFill>
              </a:rPr>
              <a:t> was </a:t>
            </a:r>
            <a:r>
              <a:rPr lang="pl-PL" b="1" dirty="0" err="1">
                <a:solidFill>
                  <a:schemeClr val="bg1">
                    <a:lumMod val="85000"/>
                  </a:schemeClr>
                </a:solidFill>
              </a:rPr>
              <a:t>successful</a:t>
            </a:r>
            <a:endParaRPr lang="pl-PL" b="1" dirty="0">
              <a:solidFill>
                <a:schemeClr val="bg1">
                  <a:lumMod val="8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The CVAE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learned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meaningful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relationships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between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facial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attributes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and image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appearance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Generated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faces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generally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matched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the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requested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attribute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combinations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Common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attribute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combinations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produced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the most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realistic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results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pl-PL" dirty="0">
              <a:solidFill>
                <a:schemeClr val="bg1">
                  <a:lumMod val="85000"/>
                </a:schemeClr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endParaRPr lang="pl-PL" dirty="0">
              <a:solidFill>
                <a:schemeClr val="bg1">
                  <a:lumMod val="8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pl-PL" b="1" dirty="0">
                <a:solidFill>
                  <a:schemeClr val="bg1">
                    <a:lumMod val="85000"/>
                  </a:schemeClr>
                </a:solidFill>
              </a:rPr>
              <a:t>2. The </a:t>
            </a:r>
            <a:r>
              <a:rPr lang="pl-PL" b="1" dirty="0" err="1">
                <a:solidFill>
                  <a:schemeClr val="bg1">
                    <a:lumMod val="85000"/>
                  </a:schemeClr>
                </a:solidFill>
              </a:rPr>
              <a:t>latent</a:t>
            </a:r>
            <a:r>
              <a:rPr lang="pl-PL" b="1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b="1" dirty="0" err="1">
                <a:solidFill>
                  <a:schemeClr val="bg1">
                    <a:lumMod val="85000"/>
                  </a:schemeClr>
                </a:solidFill>
              </a:rPr>
              <a:t>space</a:t>
            </a:r>
            <a:r>
              <a:rPr lang="pl-PL" b="1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b="1" dirty="0" err="1">
                <a:solidFill>
                  <a:schemeClr val="bg1">
                    <a:lumMod val="85000"/>
                  </a:schemeClr>
                </a:solidFill>
              </a:rPr>
              <a:t>allows</a:t>
            </a:r>
            <a:r>
              <a:rPr lang="pl-PL" b="1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b="1" dirty="0" err="1">
                <a:solidFill>
                  <a:schemeClr val="bg1">
                    <a:lumMod val="85000"/>
                  </a:schemeClr>
                </a:solidFill>
              </a:rPr>
              <a:t>controllable</a:t>
            </a:r>
            <a:r>
              <a:rPr lang="pl-PL" b="1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b="1" dirty="0" err="1">
                <a:solidFill>
                  <a:schemeClr val="bg1">
                    <a:lumMod val="85000"/>
                  </a:schemeClr>
                </a:solidFill>
              </a:rPr>
              <a:t>editing</a:t>
            </a:r>
            <a:endParaRPr lang="pl-PL" b="1" dirty="0">
              <a:solidFill>
                <a:schemeClr val="bg1">
                  <a:lumMod val="8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Modifying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the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attribute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vector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changes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specific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visual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characteristics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of a face.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Smooth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transitions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were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observed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for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attributes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such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as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gender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and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eyeglasses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This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demonstrates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that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the model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learned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interpretable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attribute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directions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in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latent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space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  <a:p>
            <a:endParaRPr lang="pl-PL" dirty="0">
              <a:solidFill>
                <a:schemeClr val="bg1">
                  <a:lumMod val="85000"/>
                </a:schemeClr>
              </a:solidFill>
            </a:endParaRPr>
          </a:p>
          <a:p>
            <a:endParaRPr lang="pl-PL" dirty="0">
              <a:solidFill>
                <a:schemeClr val="bg1">
                  <a:lumMod val="8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pl-PL" b="1" dirty="0">
                <a:solidFill>
                  <a:schemeClr val="bg1">
                    <a:lumMod val="85000"/>
                  </a:schemeClr>
                </a:solidFill>
              </a:rPr>
              <a:t>3. Model </a:t>
            </a:r>
            <a:r>
              <a:rPr lang="pl-PL" b="1" dirty="0" err="1">
                <a:solidFill>
                  <a:schemeClr val="bg1">
                    <a:lumMod val="85000"/>
                  </a:schemeClr>
                </a:solidFill>
              </a:rPr>
              <a:t>limitations</a:t>
            </a:r>
            <a:r>
              <a:rPr lang="pl-PL" b="1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b="1" dirty="0" err="1">
                <a:solidFill>
                  <a:schemeClr val="bg1">
                    <a:lumMod val="85000"/>
                  </a:schemeClr>
                </a:solidFill>
              </a:rPr>
              <a:t>remain</a:t>
            </a:r>
            <a:r>
              <a:rPr lang="pl-PL" b="1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b="1" dirty="0" err="1">
                <a:solidFill>
                  <a:schemeClr val="bg1">
                    <a:lumMod val="85000"/>
                  </a:schemeClr>
                </a:solidFill>
              </a:rPr>
              <a:t>significant</a:t>
            </a:r>
            <a:endParaRPr lang="pl-PL" b="1" dirty="0">
              <a:solidFill>
                <a:schemeClr val="bg1">
                  <a:lumMod val="8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Fine image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details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are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lost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during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reconstruction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Rare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or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conflicting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attributes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are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generated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less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reliably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Some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concepts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(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e.g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baldness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)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are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only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partially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pl-PL" dirty="0" err="1">
                <a:solidFill>
                  <a:schemeClr val="bg1">
                    <a:lumMod val="85000"/>
                  </a:schemeClr>
                </a:solidFill>
              </a:rPr>
              <a:t>understood</a:t>
            </a:r>
            <a:r>
              <a:rPr lang="pl-PL" dirty="0">
                <a:solidFill>
                  <a:schemeClr val="bg1">
                    <a:lumMod val="85000"/>
                  </a:schemeClr>
                </a:solidFill>
              </a:rPr>
              <a:t> by the model.</a:t>
            </a:r>
          </a:p>
          <a:p>
            <a:endParaRPr lang="pl-PL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594168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</TotalTime>
  <Words>589</Words>
  <Application>Microsoft Office PowerPoint</Application>
  <DocSecurity>0</DocSecurity>
  <PresentationFormat>Panoramiczny</PresentationFormat>
  <Paragraphs>65</Paragraphs>
  <Slides>10</Slides>
  <Notes>10</Notes>
  <HiddenSlides>0</HiddenSlides>
  <MMClips>0</MMClips>
  <ScaleCrop>false</ScaleCrop>
  <HeadingPairs>
    <vt:vector size="6" baseType="variant">
      <vt:variant>
        <vt:lpstr>Używane czcionki</vt:lpstr>
      </vt:variant>
      <vt:variant>
        <vt:i4>2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10</vt:i4>
      </vt:variant>
    </vt:vector>
  </HeadingPairs>
  <TitlesOfParts>
    <vt:vector size="13" baseType="lpstr">
      <vt:lpstr>Arial</vt:lpstr>
      <vt:lpstr>Calibri</vt:lpstr>
      <vt:lpstr>ChatGPT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Piotr Waszak</cp:lastModifiedBy>
  <cp:revision>21</cp:revision>
  <dcterms:created xsi:type="dcterms:W3CDTF">2026-06-21T21:30:11Z</dcterms:created>
  <dcterms:modified xsi:type="dcterms:W3CDTF">2026-06-22T11:12:42Z</dcterms:modified>
</cp:coreProperties>
</file>