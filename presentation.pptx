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7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96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BC1BC-606F-35C5-B0A0-F7BA8A512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D75DB1-299C-F5E3-D46C-4EB2DC10B7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77BAC2-5814-C7D5-8F2F-07DDFF3539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5B3CB0-57B8-3A77-5763-467093413D6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65345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ostokąt 4">
            <a:extLst>
              <a:ext uri="{FF2B5EF4-FFF2-40B4-BE49-F238E27FC236}">
                <a16:creationId xmlns:a16="http://schemas.microsoft.com/office/drawing/2014/main" id="{A6BAE88F-CFA4-49EA-BFD5-D8A4956AF620}"/>
              </a:ext>
            </a:extLst>
          </p:cNvPr>
          <p:cNvSpPr>
            <a:spLocks noGrp="1"/>
          </p:cNvSpPr>
          <p:nvPr/>
        </p:nvSpPr>
        <p:spPr>
          <a:xfrm>
            <a:off x="1619250" y="438150"/>
            <a:ext cx="8953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750" b="1">
                <a:solidFill>
                  <a:srgbClr val="F6F7FB"/>
                </a:solidFill>
              </a:defRPr>
            </a:pPr>
            <a:r>
              <a:rPr sz="3750" b="1" dirty="0">
                <a:solidFill>
                  <a:srgbClr val="F6F7FB"/>
                </a:solidFill>
              </a:rPr>
              <a:t>Conditional Face Generation</a:t>
            </a:r>
          </a:p>
          <a:p>
            <a:pPr algn="ctr">
              <a:defRPr sz="3750" b="1">
                <a:solidFill>
                  <a:srgbClr val="F6F7FB"/>
                </a:solidFill>
              </a:defRPr>
            </a:pPr>
            <a:r>
              <a:rPr sz="3750" b="1" dirty="0">
                <a:solidFill>
                  <a:srgbClr val="F6F7FB"/>
                </a:solidFill>
              </a:rPr>
              <a:t>using CVAE</a:t>
            </a:r>
          </a:p>
        </p:txBody>
      </p:sp>
      <p:sp>
        <p:nvSpPr>
          <p:cNvPr id="2" name="Prostokąt 1">
            <a:extLst>
              <a:ext uri="{FF2B5EF4-FFF2-40B4-BE49-F238E27FC236}">
                <a16:creationId xmlns:a16="http://schemas.microsoft.com/office/drawing/2014/main" id="{DBFC5EB6-F30D-4A04-B329-D1145C74A31E}"/>
              </a:ext>
            </a:extLst>
          </p:cNvPr>
          <p:cNvSpPr>
            <a:spLocks noGrp="1"/>
          </p:cNvSpPr>
          <p:nvPr/>
        </p:nvSpPr>
        <p:spPr>
          <a:xfrm>
            <a:off x="2381250" y="1647825"/>
            <a:ext cx="742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>
                <a:solidFill>
                  <a:srgbClr val="B7C0D1"/>
                </a:solidFill>
              </a:defRPr>
            </a:pPr>
            <a:r>
              <a:rPr sz="1575" dirty="0">
                <a:solidFill>
                  <a:srgbClr val="B7C0D1"/>
                </a:solidFill>
              </a:rPr>
              <a:t>Generating and editing faces from </a:t>
            </a:r>
            <a:r>
              <a:rPr sz="1575" dirty="0" err="1">
                <a:solidFill>
                  <a:srgbClr val="B7C0D1"/>
                </a:solidFill>
              </a:rPr>
              <a:t>faci</a:t>
            </a:r>
            <a:r>
              <a:rPr lang="pl-PL" sz="1575" dirty="0">
                <a:solidFill>
                  <a:srgbClr val="B7C0D1"/>
                </a:solidFill>
              </a:rPr>
              <a:t>a</a:t>
            </a:r>
            <a:r>
              <a:rPr sz="1575" dirty="0">
                <a:solidFill>
                  <a:srgbClr val="B7C0D1"/>
                </a:solidFill>
              </a:rPr>
              <a:t>l attributes</a:t>
            </a:r>
          </a:p>
        </p:txBody>
      </p:sp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861C0CCD-DF47-4981-A65C-2E4C2C4A63CA}"/>
              </a:ext>
            </a:extLst>
          </p:cNvPr>
          <p:cNvSpPr>
            <a:spLocks noGrp="1"/>
          </p:cNvSpPr>
          <p:nvPr/>
        </p:nvSpPr>
        <p:spPr>
          <a:xfrm>
            <a:off x="3429000" y="2219325"/>
            <a:ext cx="5334000" cy="4038600"/>
          </a:xfrm>
          <a:prstGeom prst="roundRect">
            <a:avLst>
              <a:gd name="adj" fmla="val 5660"/>
            </a:avLst>
          </a:prstGeom>
          <a:solidFill>
            <a:srgbClr val="1F2530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2" name="Obraz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81500" y="2524125"/>
            <a:ext cx="3429000" cy="3429000"/>
          </a:xfrm>
          <a:prstGeom prst="roundRect">
            <a:avLst>
              <a:gd name="adj" fmla="val 4444"/>
            </a:avLst>
          </a:prstGeom>
        </p:spPr>
      </p:pic>
    </p:spTree>
    <p:extLst>
      <p:ext uri="{BB962C8B-B14F-4D97-AF65-F5344CB8AC3E}">
        <p14:creationId xmlns:p14="http://schemas.microsoft.com/office/powerpoint/2010/main" val="340624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rostokąt 14">
            <a:extLst>
              <a:ext uri="{FF2B5EF4-FFF2-40B4-BE49-F238E27FC236}">
                <a16:creationId xmlns:a16="http://schemas.microsoft.com/office/drawing/2014/main" id="{EDD7A70C-34C6-4B0E-9539-7620023ACF3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334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300" b="1">
                <a:solidFill>
                  <a:srgbClr val="F6F7FB"/>
                </a:solidFill>
              </a:defRPr>
            </a:pPr>
            <a:r>
              <a:rPr lang="pl-PL" sz="3300" b="1" dirty="0">
                <a:solidFill>
                  <a:srgbClr val="F6F7FB"/>
                </a:solidFill>
              </a:rPr>
              <a:t>Project </a:t>
            </a:r>
            <a:r>
              <a:rPr lang="pl-PL" sz="3300" b="1" dirty="0" err="1">
                <a:solidFill>
                  <a:srgbClr val="F6F7FB"/>
                </a:solidFill>
              </a:rPr>
              <a:t>Goals</a:t>
            </a:r>
            <a:endParaRPr sz="3300" b="1" dirty="0">
              <a:solidFill>
                <a:srgbClr val="F6F7FB"/>
              </a:solidFill>
            </a:endParaRPr>
          </a:p>
        </p:txBody>
      </p:sp>
      <p:sp>
        <p:nvSpPr>
          <p:cNvPr id="2" name="Prostokąt 1">
            <a:extLst>
              <a:ext uri="{FF2B5EF4-FFF2-40B4-BE49-F238E27FC236}">
                <a16:creationId xmlns:a16="http://schemas.microsoft.com/office/drawing/2014/main" id="{05A5CFCB-42EC-4CC2-9B13-34418BFC4275}"/>
              </a:ext>
            </a:extLst>
          </p:cNvPr>
          <p:cNvSpPr>
            <a:spLocks noGrp="1"/>
          </p:cNvSpPr>
          <p:nvPr/>
        </p:nvSpPr>
        <p:spPr>
          <a:xfrm>
            <a:off x="609600" y="1009649"/>
            <a:ext cx="9334500" cy="268770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pl-PL" sz="2400" dirty="0">
                <a:solidFill>
                  <a:schemeClr val="bg1">
                    <a:lumMod val="85000"/>
                  </a:schemeClr>
                </a:solidFill>
              </a:rPr>
              <a:t>The </a:t>
            </a:r>
            <a:r>
              <a:rPr lang="pl-PL" sz="2400" dirty="0" err="1">
                <a:solidFill>
                  <a:schemeClr val="bg1">
                    <a:lumMod val="85000"/>
                  </a:schemeClr>
                </a:solidFill>
              </a:rPr>
              <a:t>main</a:t>
            </a:r>
            <a:r>
              <a:rPr lang="pl-PL" sz="2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pl-PL" sz="2400" dirty="0" err="1">
                <a:solidFill>
                  <a:schemeClr val="bg1">
                    <a:lumMod val="85000"/>
                  </a:schemeClr>
                </a:solidFill>
              </a:rPr>
              <a:t>objective</a:t>
            </a:r>
            <a:r>
              <a:rPr lang="pl-PL" sz="2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pl-PL" sz="2400" dirty="0" err="1">
                <a:solidFill>
                  <a:schemeClr val="bg1">
                    <a:lumMod val="85000"/>
                  </a:schemeClr>
                </a:solidFill>
              </a:rPr>
              <a:t>is</a:t>
            </a:r>
            <a:r>
              <a:rPr lang="pl-PL" sz="2400" dirty="0">
                <a:solidFill>
                  <a:schemeClr val="bg1">
                    <a:lumMod val="85000"/>
                  </a:schemeClr>
                </a:solidFill>
              </a:rPr>
              <a:t> to </a:t>
            </a:r>
            <a:r>
              <a:rPr lang="pl-PL" sz="2400" dirty="0" err="1">
                <a:solidFill>
                  <a:schemeClr val="bg1">
                    <a:lumMod val="85000"/>
                  </a:schemeClr>
                </a:solidFill>
              </a:rPr>
              <a:t>investigate</a:t>
            </a:r>
            <a:r>
              <a:rPr lang="pl-PL" sz="2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pl-PL" sz="2400" dirty="0" err="1">
                <a:solidFill>
                  <a:schemeClr val="bg1">
                    <a:lumMod val="85000"/>
                  </a:schemeClr>
                </a:solidFill>
              </a:rPr>
              <a:t>whether</a:t>
            </a:r>
            <a:r>
              <a:rPr lang="pl-PL" sz="2400" dirty="0">
                <a:solidFill>
                  <a:schemeClr val="bg1">
                    <a:lumMod val="85000"/>
                  </a:schemeClr>
                </a:solidFill>
              </a:rPr>
              <a:t> a CVAE </a:t>
            </a:r>
            <a:r>
              <a:rPr lang="pl-PL" sz="2400" dirty="0" err="1">
                <a:solidFill>
                  <a:schemeClr val="bg1">
                    <a:lumMod val="85000"/>
                  </a:schemeClr>
                </a:solidFill>
              </a:rPr>
              <a:t>can</a:t>
            </a:r>
            <a:r>
              <a:rPr lang="pl-PL" sz="2400" dirty="0">
                <a:solidFill>
                  <a:schemeClr val="bg1">
                    <a:lumMod val="85000"/>
                  </a:schemeClr>
                </a:solidFill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000" dirty="0" err="1">
                <a:solidFill>
                  <a:schemeClr val="bg1">
                    <a:lumMod val="85000"/>
                  </a:schemeClr>
                </a:solidFill>
              </a:rPr>
              <a:t>generate</a:t>
            </a:r>
            <a:r>
              <a:rPr lang="pl-PL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pl-PL" sz="2000" dirty="0" err="1">
                <a:solidFill>
                  <a:schemeClr val="bg1">
                    <a:lumMod val="85000"/>
                  </a:schemeClr>
                </a:solidFill>
              </a:rPr>
              <a:t>realistic</a:t>
            </a:r>
            <a:r>
              <a:rPr lang="pl-PL" sz="2000" dirty="0">
                <a:solidFill>
                  <a:schemeClr val="bg1">
                    <a:lumMod val="85000"/>
                  </a:schemeClr>
                </a:solidFill>
              </a:rPr>
              <a:t> face </a:t>
            </a:r>
            <a:r>
              <a:rPr lang="pl-PL" sz="2000" dirty="0" err="1">
                <a:solidFill>
                  <a:schemeClr val="bg1">
                    <a:lumMod val="85000"/>
                  </a:schemeClr>
                </a:solidFill>
              </a:rPr>
              <a:t>images</a:t>
            </a:r>
            <a:r>
              <a:rPr lang="pl-PL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pl-PL" sz="2000" dirty="0" err="1">
                <a:solidFill>
                  <a:schemeClr val="bg1">
                    <a:lumMod val="85000"/>
                  </a:schemeClr>
                </a:solidFill>
              </a:rPr>
              <a:t>conditioned</a:t>
            </a:r>
            <a:r>
              <a:rPr lang="pl-PL" sz="2000" dirty="0">
                <a:solidFill>
                  <a:schemeClr val="bg1">
                    <a:lumMod val="85000"/>
                  </a:schemeClr>
                </a:solidFill>
              </a:rPr>
              <a:t> on </a:t>
            </a:r>
            <a:r>
              <a:rPr lang="pl-PL" sz="2000" dirty="0" err="1">
                <a:solidFill>
                  <a:schemeClr val="bg1">
                    <a:lumMod val="85000"/>
                  </a:schemeClr>
                </a:solidFill>
              </a:rPr>
              <a:t>facial</a:t>
            </a:r>
            <a:r>
              <a:rPr lang="pl-PL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pl-PL" sz="2000" dirty="0" err="1">
                <a:solidFill>
                  <a:schemeClr val="bg1">
                    <a:lumMod val="85000"/>
                  </a:schemeClr>
                </a:solidFill>
              </a:rPr>
              <a:t>attributes</a:t>
            </a:r>
            <a:r>
              <a:rPr lang="pl-PL" sz="2000" dirty="0">
                <a:solidFill>
                  <a:schemeClr val="bg1">
                    <a:lumMod val="85000"/>
                  </a:schemeClr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000" dirty="0" err="1">
                <a:solidFill>
                  <a:schemeClr val="bg1">
                    <a:lumMod val="85000"/>
                  </a:schemeClr>
                </a:solidFill>
              </a:rPr>
              <a:t>Reconstruct</a:t>
            </a:r>
            <a:r>
              <a:rPr lang="pl-PL" sz="2000" dirty="0">
                <a:solidFill>
                  <a:schemeClr val="bg1">
                    <a:lumMod val="85000"/>
                  </a:schemeClr>
                </a:solidFill>
              </a:rPr>
              <a:t> input </a:t>
            </a:r>
            <a:r>
              <a:rPr lang="pl-PL" sz="2000" dirty="0" err="1">
                <a:solidFill>
                  <a:schemeClr val="bg1">
                    <a:lumMod val="85000"/>
                  </a:schemeClr>
                </a:solidFill>
              </a:rPr>
              <a:t>images</a:t>
            </a:r>
            <a:r>
              <a:rPr lang="pl-PL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pl-PL" sz="2000" dirty="0" err="1">
                <a:solidFill>
                  <a:schemeClr val="bg1">
                    <a:lumMod val="85000"/>
                  </a:schemeClr>
                </a:solidFill>
              </a:rPr>
              <a:t>while</a:t>
            </a:r>
            <a:r>
              <a:rPr lang="pl-PL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pl-PL" sz="2000" dirty="0" err="1">
                <a:solidFill>
                  <a:schemeClr val="bg1">
                    <a:lumMod val="85000"/>
                  </a:schemeClr>
                </a:solidFill>
              </a:rPr>
              <a:t>preserving</a:t>
            </a:r>
            <a:r>
              <a:rPr lang="pl-PL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pl-PL" sz="2000" dirty="0" err="1">
                <a:solidFill>
                  <a:schemeClr val="bg1">
                    <a:lumMod val="85000"/>
                  </a:schemeClr>
                </a:solidFill>
              </a:rPr>
              <a:t>important</a:t>
            </a:r>
            <a:r>
              <a:rPr lang="pl-PL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pl-PL" sz="2000" dirty="0" err="1">
                <a:solidFill>
                  <a:schemeClr val="bg1">
                    <a:lumMod val="85000"/>
                  </a:schemeClr>
                </a:solidFill>
              </a:rPr>
              <a:t>facial</a:t>
            </a:r>
            <a:r>
              <a:rPr lang="pl-PL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pl-PL" sz="2000" dirty="0" err="1">
                <a:solidFill>
                  <a:schemeClr val="bg1">
                    <a:lumMod val="85000"/>
                  </a:schemeClr>
                </a:solidFill>
              </a:rPr>
              <a:t>features</a:t>
            </a:r>
            <a:r>
              <a:rPr lang="pl-PL" sz="2000" dirty="0">
                <a:solidFill>
                  <a:schemeClr val="bg1">
                    <a:lumMod val="85000"/>
                  </a:schemeClr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000" dirty="0" err="1">
                <a:solidFill>
                  <a:schemeClr val="bg1">
                    <a:lumMod val="85000"/>
                  </a:schemeClr>
                </a:solidFill>
              </a:rPr>
              <a:t>Modify</a:t>
            </a:r>
            <a:r>
              <a:rPr lang="pl-PL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pl-PL" sz="2000" dirty="0" err="1">
                <a:solidFill>
                  <a:schemeClr val="bg1">
                    <a:lumMod val="85000"/>
                  </a:schemeClr>
                </a:solidFill>
              </a:rPr>
              <a:t>selected</a:t>
            </a:r>
            <a:r>
              <a:rPr lang="pl-PL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pl-PL" sz="2000" dirty="0" err="1">
                <a:solidFill>
                  <a:schemeClr val="bg1">
                    <a:lumMod val="85000"/>
                  </a:schemeClr>
                </a:solidFill>
              </a:rPr>
              <a:t>attributes</a:t>
            </a:r>
            <a:r>
              <a:rPr lang="pl-PL" sz="2000" dirty="0">
                <a:solidFill>
                  <a:schemeClr val="bg1">
                    <a:lumMod val="85000"/>
                  </a:schemeClr>
                </a:solidFill>
              </a:rPr>
              <a:t> (</a:t>
            </a:r>
            <a:r>
              <a:rPr lang="pl-PL" sz="2000" dirty="0" err="1">
                <a:solidFill>
                  <a:schemeClr val="bg1">
                    <a:lumMod val="85000"/>
                  </a:schemeClr>
                </a:solidFill>
              </a:rPr>
              <a:t>e.g</a:t>
            </a:r>
            <a:r>
              <a:rPr lang="pl-PL" sz="2000" dirty="0">
                <a:solidFill>
                  <a:schemeClr val="bg1">
                    <a:lumMod val="85000"/>
                  </a:schemeClr>
                </a:solidFill>
              </a:rPr>
              <a:t>. </a:t>
            </a:r>
            <a:r>
              <a:rPr lang="pl-PL" sz="2000" dirty="0" err="1">
                <a:solidFill>
                  <a:schemeClr val="bg1">
                    <a:lumMod val="85000"/>
                  </a:schemeClr>
                </a:solidFill>
              </a:rPr>
              <a:t>gender</a:t>
            </a:r>
            <a:r>
              <a:rPr lang="pl-PL" sz="2000" dirty="0">
                <a:solidFill>
                  <a:schemeClr val="bg1">
                    <a:lumMod val="85000"/>
                  </a:schemeClr>
                </a:solidFill>
              </a:rPr>
              <a:t>, </a:t>
            </a:r>
            <a:r>
              <a:rPr lang="pl-PL" sz="2000" dirty="0" err="1">
                <a:solidFill>
                  <a:schemeClr val="bg1">
                    <a:lumMod val="85000"/>
                  </a:schemeClr>
                </a:solidFill>
              </a:rPr>
              <a:t>eyeglasses</a:t>
            </a:r>
            <a:r>
              <a:rPr lang="pl-PL" sz="2000" dirty="0">
                <a:solidFill>
                  <a:schemeClr val="bg1">
                    <a:lumMod val="85000"/>
                  </a:schemeClr>
                </a:solidFill>
              </a:rPr>
              <a:t>, </a:t>
            </a:r>
            <a:r>
              <a:rPr lang="pl-PL" sz="2000" dirty="0" err="1">
                <a:solidFill>
                  <a:schemeClr val="bg1">
                    <a:lumMod val="85000"/>
                  </a:schemeClr>
                </a:solidFill>
              </a:rPr>
              <a:t>hair</a:t>
            </a:r>
            <a:r>
              <a:rPr lang="pl-PL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pl-PL" sz="2000" dirty="0" err="1">
                <a:solidFill>
                  <a:schemeClr val="bg1">
                    <a:lumMod val="85000"/>
                  </a:schemeClr>
                </a:solidFill>
              </a:rPr>
              <a:t>color</a:t>
            </a:r>
            <a:r>
              <a:rPr lang="pl-PL" sz="2000" dirty="0">
                <a:solidFill>
                  <a:schemeClr val="bg1">
                    <a:lumMod val="85000"/>
                  </a:schemeClr>
                </a:solidFill>
              </a:rPr>
              <a:t>) </a:t>
            </a:r>
            <a:r>
              <a:rPr lang="pl-PL" sz="2000" dirty="0" err="1">
                <a:solidFill>
                  <a:schemeClr val="bg1">
                    <a:lumMod val="85000"/>
                  </a:schemeClr>
                </a:solidFill>
              </a:rPr>
              <a:t>while</a:t>
            </a:r>
            <a:r>
              <a:rPr lang="pl-PL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pl-PL" sz="2000" dirty="0" err="1">
                <a:solidFill>
                  <a:schemeClr val="bg1">
                    <a:lumMod val="85000"/>
                  </a:schemeClr>
                </a:solidFill>
              </a:rPr>
              <a:t>maintaining</a:t>
            </a:r>
            <a:r>
              <a:rPr lang="pl-PL" sz="2000" dirty="0">
                <a:solidFill>
                  <a:schemeClr val="bg1">
                    <a:lumMod val="85000"/>
                  </a:schemeClr>
                </a:solidFill>
              </a:rPr>
              <a:t> the </a:t>
            </a:r>
            <a:r>
              <a:rPr lang="pl-PL" sz="2000" dirty="0" err="1">
                <a:solidFill>
                  <a:schemeClr val="bg1">
                    <a:lumMod val="85000"/>
                  </a:schemeClr>
                </a:solidFill>
              </a:rPr>
              <a:t>identity</a:t>
            </a:r>
            <a:r>
              <a:rPr lang="pl-PL" sz="2000" dirty="0">
                <a:solidFill>
                  <a:schemeClr val="bg1">
                    <a:lumMod val="85000"/>
                  </a:schemeClr>
                </a:solidFill>
              </a:rPr>
              <a:t> of the person.</a:t>
            </a:r>
          </a:p>
        </p:txBody>
      </p:sp>
      <p:pic>
        <p:nvPicPr>
          <p:cNvPr id="18" name="Obraz 17">
            <a:extLst>
              <a:ext uri="{FF2B5EF4-FFF2-40B4-BE49-F238E27FC236}">
                <a16:creationId xmlns:a16="http://schemas.microsoft.com/office/drawing/2014/main" id="{1F5B80DD-99B3-DA98-C110-A80D76AC4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8952" y="3429000"/>
            <a:ext cx="2804381" cy="2804381"/>
          </a:xfrm>
          <a:prstGeom prst="rect">
            <a:avLst/>
          </a:prstGeom>
        </p:spPr>
      </p:pic>
      <p:pic>
        <p:nvPicPr>
          <p:cNvPr id="20" name="Obraz 19">
            <a:extLst>
              <a:ext uri="{FF2B5EF4-FFF2-40B4-BE49-F238E27FC236}">
                <a16:creationId xmlns:a16="http://schemas.microsoft.com/office/drawing/2014/main" id="{393A5683-B543-B2E1-706A-79A9423909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6526" y="3429000"/>
            <a:ext cx="2804381" cy="2785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545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ostokąt 4">
            <a:extLst>
              <a:ext uri="{FF2B5EF4-FFF2-40B4-BE49-F238E27FC236}">
                <a16:creationId xmlns:a16="http://schemas.microsoft.com/office/drawing/2014/main" id="{7D0447CB-038F-4CCF-B438-AE7E56BCB8C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334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300" b="1">
                <a:solidFill>
                  <a:srgbClr val="F6F7FB"/>
                </a:solidFill>
              </a:defRPr>
            </a:pPr>
            <a:r>
              <a:rPr sz="3300" b="1">
                <a:solidFill>
                  <a:srgbClr val="F6F7FB"/>
                </a:solidFill>
              </a:rPr>
              <a:t>Dataset: CelebA</a:t>
            </a:r>
          </a:p>
        </p:txBody>
      </p:sp>
      <p:sp>
        <p:nvSpPr>
          <p:cNvPr id="2" name="Prostokąt 1">
            <a:extLst>
              <a:ext uri="{FF2B5EF4-FFF2-40B4-BE49-F238E27FC236}">
                <a16:creationId xmlns:a16="http://schemas.microsoft.com/office/drawing/2014/main" id="{FA141289-3682-45EA-B242-E940B6286A64}"/>
              </a:ext>
            </a:extLst>
          </p:cNvPr>
          <p:cNvSpPr>
            <a:spLocks noGrp="1"/>
          </p:cNvSpPr>
          <p:nvPr/>
        </p:nvSpPr>
        <p:spPr>
          <a:xfrm>
            <a:off x="609600" y="10096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B7C0D1"/>
                </a:solidFill>
              </a:defRPr>
            </a:pPr>
            <a:r>
              <a:rPr sz="1500" dirty="0">
                <a:solidFill>
                  <a:srgbClr val="B7C0D1"/>
                </a:solidFill>
              </a:rPr>
              <a:t>Centered face crops with binary attributes make conditional generation possible.</a:t>
            </a:r>
          </a:p>
        </p:txBody>
      </p:sp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4D362627-8DCB-4F6C-9024-A30B9D083209}"/>
              </a:ext>
            </a:extLst>
          </p:cNvPr>
          <p:cNvSpPr>
            <a:spLocks noGrp="1"/>
          </p:cNvSpPr>
          <p:nvPr/>
        </p:nvSpPr>
        <p:spPr>
          <a:xfrm>
            <a:off x="666750" y="1371600"/>
            <a:ext cx="7067550" cy="5416826"/>
          </a:xfrm>
          <a:prstGeom prst="roundRect">
            <a:avLst>
              <a:gd name="adj" fmla="val 4800"/>
            </a:avLst>
          </a:prstGeom>
          <a:solidFill>
            <a:srgbClr val="232A35"/>
          </a:solidFill>
          <a:ln w="9525">
            <a:solidFill>
              <a:srgbClr val="313C4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FEE6E954-9BA9-408A-A324-58EE76513774}"/>
              </a:ext>
            </a:extLst>
          </p:cNvPr>
          <p:cNvSpPr>
            <a:spLocks noGrp="1"/>
          </p:cNvSpPr>
          <p:nvPr/>
        </p:nvSpPr>
        <p:spPr>
          <a:xfrm>
            <a:off x="7933082" y="1609725"/>
            <a:ext cx="3810000" cy="4572000"/>
          </a:xfrm>
          <a:prstGeom prst="roundRect">
            <a:avLst>
              <a:gd name="adj" fmla="val 6000"/>
            </a:avLst>
          </a:prstGeom>
          <a:solidFill>
            <a:srgbClr val="232A35"/>
          </a:solidFill>
          <a:ln w="9525">
            <a:solidFill>
              <a:srgbClr val="313C4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9B2D532E-822C-4AB1-B392-8AE352D0B402}"/>
              </a:ext>
            </a:extLst>
          </p:cNvPr>
          <p:cNvSpPr>
            <a:spLocks noGrp="1"/>
          </p:cNvSpPr>
          <p:nvPr/>
        </p:nvSpPr>
        <p:spPr>
          <a:xfrm>
            <a:off x="8096250" y="2114550"/>
            <a:ext cx="2857500" cy="1676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F6F7FB"/>
                </a:solidFill>
              </a:defRPr>
            </a:pPr>
            <a:r>
              <a:rPr sz="2100" b="1" dirty="0">
                <a:solidFill>
                  <a:srgbClr val="F6F7FB"/>
                </a:solidFill>
              </a:rPr>
              <a:t>200k images</a:t>
            </a:r>
          </a:p>
          <a:p>
            <a:pPr>
              <a:defRPr sz="2100" b="1">
                <a:solidFill>
                  <a:srgbClr val="F6F7FB"/>
                </a:solidFill>
              </a:defRPr>
            </a:pPr>
            <a:r>
              <a:rPr sz="2100" b="1" dirty="0">
                <a:solidFill>
                  <a:srgbClr val="F6F7FB"/>
                </a:solidFill>
              </a:rPr>
              <a:t>40 attributes</a:t>
            </a:r>
          </a:p>
          <a:p>
            <a:pPr>
              <a:defRPr sz="2100" b="1">
                <a:solidFill>
                  <a:srgbClr val="F6F7FB"/>
                </a:solidFill>
              </a:defRPr>
            </a:pPr>
            <a:r>
              <a:rPr lang="pl-PL" sz="2100" b="1" dirty="0" err="1"/>
              <a:t>Original</a:t>
            </a:r>
            <a:r>
              <a:rPr lang="pl-PL" sz="2100" b="1" dirty="0"/>
              <a:t> </a:t>
            </a:r>
            <a:r>
              <a:rPr lang="pl-PL" sz="2100" b="1" dirty="0" err="1"/>
              <a:t>size</a:t>
            </a:r>
            <a:r>
              <a:rPr lang="pl-PL" sz="2100" b="1" dirty="0"/>
              <a:t> 178 × 218</a:t>
            </a:r>
          </a:p>
          <a:p>
            <a:pPr>
              <a:defRPr sz="2100" b="1">
                <a:solidFill>
                  <a:srgbClr val="F6F7FB"/>
                </a:solidFill>
              </a:defRPr>
            </a:pPr>
            <a:r>
              <a:rPr lang="pl-PL" sz="2100" b="1" dirty="0" err="1"/>
              <a:t>Scale</a:t>
            </a:r>
            <a:r>
              <a:rPr lang="pl-PL" sz="2100" b="1" dirty="0"/>
              <a:t> </a:t>
            </a:r>
            <a:r>
              <a:rPr lang="pl-PL" sz="2100" b="1" dirty="0" err="1"/>
              <a:t>it</a:t>
            </a:r>
            <a:r>
              <a:rPr lang="pl-PL" sz="2100" b="1" dirty="0"/>
              <a:t> to 64x64</a:t>
            </a:r>
          </a:p>
          <a:p>
            <a:pPr>
              <a:defRPr sz="2100" b="1">
                <a:solidFill>
                  <a:srgbClr val="F6F7FB"/>
                </a:solidFill>
              </a:defRPr>
            </a:pPr>
            <a:endParaRPr sz="2100" b="1" dirty="0">
              <a:solidFill>
                <a:srgbClr val="F6F7FB"/>
              </a:solidFill>
            </a:endParaRPr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3AAC7704-9395-4D3B-8905-7014594B700E}"/>
              </a:ext>
            </a:extLst>
          </p:cNvPr>
          <p:cNvSpPr>
            <a:spLocks noGrp="1"/>
          </p:cNvSpPr>
          <p:nvPr/>
        </p:nvSpPr>
        <p:spPr>
          <a:xfrm>
            <a:off x="8229600" y="3790950"/>
            <a:ext cx="876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F6F7FB"/>
                </a:solidFill>
              </a:defRPr>
            </a:pPr>
            <a:endParaRPr sz="1125" b="1" dirty="0">
              <a:solidFill>
                <a:srgbClr val="F6F7FB"/>
              </a:solidFill>
            </a:endParaRPr>
          </a:p>
        </p:txBody>
      </p:sp>
      <p:sp>
        <p:nvSpPr>
          <p:cNvPr id="20" name="Prostokąt 19">
            <a:extLst>
              <a:ext uri="{FF2B5EF4-FFF2-40B4-BE49-F238E27FC236}">
                <a16:creationId xmlns:a16="http://schemas.microsoft.com/office/drawing/2014/main" id="{4C8436E7-2D82-4A72-90D9-CBA36AB6B65A}"/>
              </a:ext>
            </a:extLst>
          </p:cNvPr>
          <p:cNvSpPr>
            <a:spLocks noGrp="1"/>
          </p:cNvSpPr>
          <p:nvPr/>
        </p:nvSpPr>
        <p:spPr>
          <a:xfrm>
            <a:off x="8096250" y="4857750"/>
            <a:ext cx="2857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B7C0D1"/>
                </a:solidFill>
              </a:defRPr>
            </a:pPr>
            <a:r>
              <a:rPr sz="1350">
                <a:solidFill>
                  <a:srgbClr val="B7C0D1"/>
                </a:solidFill>
              </a:rPr>
              <a:t>The dataset provides rich labels, but the model only needs a subset for focused experiments.</a:t>
            </a:r>
          </a:p>
        </p:txBody>
      </p:sp>
      <p:pic>
        <p:nvPicPr>
          <p:cNvPr id="22" name="Obraz 21">
            <a:extLst>
              <a:ext uri="{FF2B5EF4-FFF2-40B4-BE49-F238E27FC236}">
                <a16:creationId xmlns:a16="http://schemas.microsoft.com/office/drawing/2014/main" id="{F49F09F1-ED59-C2A2-C480-6F5D25AEB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170" y="1485900"/>
            <a:ext cx="4992596" cy="5231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509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rostokąt 20">
            <a:extLst>
              <a:ext uri="{FF2B5EF4-FFF2-40B4-BE49-F238E27FC236}">
                <a16:creationId xmlns:a16="http://schemas.microsoft.com/office/drawing/2014/main" id="{95EE903E-B0CF-47C3-B13D-4E3772E7034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334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300" b="1">
                <a:solidFill>
                  <a:srgbClr val="F6F7FB"/>
                </a:solidFill>
              </a:defRPr>
            </a:pPr>
            <a:r>
              <a:rPr sz="3300" b="1">
                <a:solidFill>
                  <a:srgbClr val="F6F7FB"/>
                </a:solidFill>
              </a:rPr>
              <a:t>Model</a:t>
            </a:r>
          </a:p>
        </p:txBody>
      </p:sp>
      <p:sp>
        <p:nvSpPr>
          <p:cNvPr id="2" name="Prostokąt 1">
            <a:extLst>
              <a:ext uri="{FF2B5EF4-FFF2-40B4-BE49-F238E27FC236}">
                <a16:creationId xmlns:a16="http://schemas.microsoft.com/office/drawing/2014/main" id="{F0A58F03-E066-4ED6-A9B5-9EE8836E2469}"/>
              </a:ext>
            </a:extLst>
          </p:cNvPr>
          <p:cNvSpPr>
            <a:spLocks noGrp="1"/>
          </p:cNvSpPr>
          <p:nvPr/>
        </p:nvSpPr>
        <p:spPr>
          <a:xfrm>
            <a:off x="609600" y="10096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B7C0D1"/>
                </a:solidFill>
              </a:defRPr>
            </a:pPr>
            <a:r>
              <a:rPr sz="1500" dirty="0">
                <a:solidFill>
                  <a:srgbClr val="B7C0D1"/>
                </a:solidFill>
              </a:rPr>
              <a:t>Conditional VAE with attribute conditioning in both encoder and decoder.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B84DACB6-2C77-481B-AA64-A88205A7E96A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123950" cy="38100"/>
          </a:xfrm>
          <a:prstGeom prst="rect">
            <a:avLst/>
          </a:prstGeom>
          <a:solidFill>
            <a:srgbClr val="4EA1FF"/>
          </a:solidFill>
          <a:ln w="0">
            <a:solidFill>
              <a:srgbClr val="4EA1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7CA742CB-65E5-4BFB-9046-59BD8A744EB4}"/>
              </a:ext>
            </a:extLst>
          </p:cNvPr>
          <p:cNvSpPr>
            <a:spLocks noGrp="1"/>
          </p:cNvSpPr>
          <p:nvPr/>
        </p:nvSpPr>
        <p:spPr>
          <a:xfrm>
            <a:off x="3429000" y="1524000"/>
            <a:ext cx="5334000" cy="647700"/>
          </a:xfrm>
          <a:prstGeom prst="roundRect">
            <a:avLst>
              <a:gd name="adj" fmla="val 23529"/>
            </a:avLst>
          </a:prstGeom>
          <a:solidFill>
            <a:srgbClr val="2B3442"/>
          </a:solidFill>
          <a:ln w="9525">
            <a:solidFill>
              <a:srgbClr val="313C4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872462CE-C345-46EE-8B2D-956BB2990D31}"/>
              </a:ext>
            </a:extLst>
          </p:cNvPr>
          <p:cNvSpPr>
            <a:spLocks noGrp="1"/>
          </p:cNvSpPr>
          <p:nvPr/>
        </p:nvSpPr>
        <p:spPr>
          <a:xfrm>
            <a:off x="3429000" y="1657350"/>
            <a:ext cx="533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F6F7FB"/>
                </a:solidFill>
              </a:defRPr>
            </a:pPr>
            <a:r>
              <a:rPr sz="1800" b="1">
                <a:solidFill>
                  <a:srgbClr val="F6F7FB"/>
                </a:solidFill>
              </a:rPr>
              <a:t>Face + Attributes</a:t>
            </a:r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77DD9196-4648-4D7B-A245-153378DC3B6A}"/>
              </a:ext>
            </a:extLst>
          </p:cNvPr>
          <p:cNvSpPr>
            <a:spLocks noGrp="1"/>
          </p:cNvSpPr>
          <p:nvPr/>
        </p:nvSpPr>
        <p:spPr>
          <a:xfrm>
            <a:off x="5810250" y="215265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4EA1FF"/>
                </a:solidFill>
              </a:defRPr>
            </a:pPr>
            <a:r>
              <a:rPr sz="2100" b="1">
                <a:solidFill>
                  <a:srgbClr val="4EA1FF"/>
                </a:solidFill>
              </a:rPr>
              <a:t>↓</a:t>
            </a:r>
          </a:p>
        </p:txBody>
      </p:sp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7314AE50-CE68-4C0F-8ABF-312ABFD0268E}"/>
              </a:ext>
            </a:extLst>
          </p:cNvPr>
          <p:cNvSpPr>
            <a:spLocks noGrp="1"/>
          </p:cNvSpPr>
          <p:nvPr/>
        </p:nvSpPr>
        <p:spPr>
          <a:xfrm>
            <a:off x="3429000" y="2419350"/>
            <a:ext cx="5334000" cy="647700"/>
          </a:xfrm>
          <a:prstGeom prst="roundRect">
            <a:avLst>
              <a:gd name="adj" fmla="val 23529"/>
            </a:avLst>
          </a:prstGeom>
          <a:solidFill>
            <a:srgbClr val="232A35"/>
          </a:solidFill>
          <a:ln w="9525">
            <a:solidFill>
              <a:srgbClr val="4EA1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717866FE-B83F-41A6-98DB-783AD14BB732}"/>
              </a:ext>
            </a:extLst>
          </p:cNvPr>
          <p:cNvSpPr>
            <a:spLocks noGrp="1"/>
          </p:cNvSpPr>
          <p:nvPr/>
        </p:nvSpPr>
        <p:spPr>
          <a:xfrm>
            <a:off x="3429000" y="2552700"/>
            <a:ext cx="533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F6F7FB"/>
                </a:solidFill>
              </a:defRPr>
            </a:pPr>
            <a:r>
              <a:rPr sz="1800" b="1">
                <a:solidFill>
                  <a:srgbClr val="F6F7FB"/>
                </a:solidFill>
              </a:rPr>
              <a:t>Encoder</a:t>
            </a:r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BE341783-EF1D-4776-96C3-2A7E99A0A7AA}"/>
              </a:ext>
            </a:extLst>
          </p:cNvPr>
          <p:cNvSpPr>
            <a:spLocks noGrp="1"/>
          </p:cNvSpPr>
          <p:nvPr/>
        </p:nvSpPr>
        <p:spPr>
          <a:xfrm>
            <a:off x="5810250" y="304800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4EA1FF"/>
                </a:solidFill>
              </a:defRPr>
            </a:pPr>
            <a:r>
              <a:rPr sz="2100" b="1">
                <a:solidFill>
                  <a:srgbClr val="4EA1FF"/>
                </a:solidFill>
              </a:rPr>
              <a:t>↓</a:t>
            </a:r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F0791412-7A39-4E7E-A45D-0172931F62B0}"/>
              </a:ext>
            </a:extLst>
          </p:cNvPr>
          <p:cNvSpPr>
            <a:spLocks noGrp="1"/>
          </p:cNvSpPr>
          <p:nvPr/>
        </p:nvSpPr>
        <p:spPr>
          <a:xfrm>
            <a:off x="3429000" y="3314700"/>
            <a:ext cx="5334000" cy="647700"/>
          </a:xfrm>
          <a:prstGeom prst="roundRect">
            <a:avLst>
              <a:gd name="adj" fmla="val 23529"/>
            </a:avLst>
          </a:prstGeom>
          <a:solidFill>
            <a:srgbClr val="2B3442"/>
          </a:solidFill>
          <a:ln w="9525">
            <a:solidFill>
              <a:srgbClr val="313C4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3E0B0EDE-CDFF-4AB3-A6E4-DEFA09C9BD6C}"/>
              </a:ext>
            </a:extLst>
          </p:cNvPr>
          <p:cNvSpPr>
            <a:spLocks noGrp="1"/>
          </p:cNvSpPr>
          <p:nvPr/>
        </p:nvSpPr>
        <p:spPr>
          <a:xfrm>
            <a:off x="3429000" y="3448050"/>
            <a:ext cx="533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F6F7FB"/>
                </a:solidFill>
              </a:defRPr>
            </a:pPr>
            <a:r>
              <a:rPr sz="1800" b="1">
                <a:solidFill>
                  <a:srgbClr val="F6F7FB"/>
                </a:solidFill>
              </a:rPr>
              <a:t>Latent z</a:t>
            </a:r>
          </a:p>
        </p:txBody>
      </p:sp>
      <p:sp>
        <p:nvSpPr>
          <p:cNvPr id="12" name="Prostokąt 11">
            <a:extLst>
              <a:ext uri="{FF2B5EF4-FFF2-40B4-BE49-F238E27FC236}">
                <a16:creationId xmlns:a16="http://schemas.microsoft.com/office/drawing/2014/main" id="{E367F921-7756-40D8-85FB-451276983B7E}"/>
              </a:ext>
            </a:extLst>
          </p:cNvPr>
          <p:cNvSpPr>
            <a:spLocks noGrp="1"/>
          </p:cNvSpPr>
          <p:nvPr/>
        </p:nvSpPr>
        <p:spPr>
          <a:xfrm>
            <a:off x="5810250" y="394335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4EA1FF"/>
                </a:solidFill>
              </a:defRPr>
            </a:pPr>
            <a:r>
              <a:rPr sz="2100" b="1">
                <a:solidFill>
                  <a:srgbClr val="4EA1FF"/>
                </a:solidFill>
              </a:rPr>
              <a:t>↓</a:t>
            </a:r>
          </a:p>
        </p:txBody>
      </p:sp>
      <p:sp>
        <p:nvSpPr>
          <p:cNvPr id="13" name="Prostokąt: zaokrąglone rogi 12">
            <a:extLst>
              <a:ext uri="{FF2B5EF4-FFF2-40B4-BE49-F238E27FC236}">
                <a16:creationId xmlns:a16="http://schemas.microsoft.com/office/drawing/2014/main" id="{3C5BE33F-7076-4F79-9D1A-F0BAA6D7C3C7}"/>
              </a:ext>
            </a:extLst>
          </p:cNvPr>
          <p:cNvSpPr>
            <a:spLocks noGrp="1"/>
          </p:cNvSpPr>
          <p:nvPr/>
        </p:nvSpPr>
        <p:spPr>
          <a:xfrm>
            <a:off x="3429000" y="4210050"/>
            <a:ext cx="5334000" cy="647700"/>
          </a:xfrm>
          <a:prstGeom prst="roundRect">
            <a:avLst>
              <a:gd name="adj" fmla="val 23529"/>
            </a:avLst>
          </a:prstGeom>
          <a:solidFill>
            <a:srgbClr val="232A35"/>
          </a:solidFill>
          <a:ln w="9525">
            <a:solidFill>
              <a:srgbClr val="4EA1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Prostokąt 13">
            <a:extLst>
              <a:ext uri="{FF2B5EF4-FFF2-40B4-BE49-F238E27FC236}">
                <a16:creationId xmlns:a16="http://schemas.microsoft.com/office/drawing/2014/main" id="{2B67DB40-206E-436B-9596-4DAE4658DE90}"/>
              </a:ext>
            </a:extLst>
          </p:cNvPr>
          <p:cNvSpPr>
            <a:spLocks noGrp="1"/>
          </p:cNvSpPr>
          <p:nvPr/>
        </p:nvSpPr>
        <p:spPr>
          <a:xfrm>
            <a:off x="3429000" y="4343400"/>
            <a:ext cx="533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F6F7FB"/>
                </a:solidFill>
              </a:defRPr>
            </a:pPr>
            <a:r>
              <a:rPr sz="1800" b="1">
                <a:solidFill>
                  <a:srgbClr val="F6F7FB"/>
                </a:solidFill>
              </a:rPr>
              <a:t>Decoder</a:t>
            </a:r>
          </a:p>
        </p:txBody>
      </p:sp>
      <p:sp>
        <p:nvSpPr>
          <p:cNvPr id="15" name="Prostokąt 14">
            <a:extLst>
              <a:ext uri="{FF2B5EF4-FFF2-40B4-BE49-F238E27FC236}">
                <a16:creationId xmlns:a16="http://schemas.microsoft.com/office/drawing/2014/main" id="{E968E0F9-912C-45D3-BDE1-4D1A7BC37415}"/>
              </a:ext>
            </a:extLst>
          </p:cNvPr>
          <p:cNvSpPr>
            <a:spLocks noGrp="1"/>
          </p:cNvSpPr>
          <p:nvPr/>
        </p:nvSpPr>
        <p:spPr>
          <a:xfrm>
            <a:off x="5810250" y="483870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4EA1FF"/>
                </a:solidFill>
              </a:defRPr>
            </a:pPr>
            <a:r>
              <a:rPr sz="2100" b="1">
                <a:solidFill>
                  <a:srgbClr val="4EA1FF"/>
                </a:solidFill>
              </a:rPr>
              <a:t>↓</a:t>
            </a:r>
          </a:p>
        </p:txBody>
      </p:sp>
      <p:sp>
        <p:nvSpPr>
          <p:cNvPr id="16" name="Prostokąt: zaokrąglone rogi 15">
            <a:extLst>
              <a:ext uri="{FF2B5EF4-FFF2-40B4-BE49-F238E27FC236}">
                <a16:creationId xmlns:a16="http://schemas.microsoft.com/office/drawing/2014/main" id="{0FDA4CF3-B79F-4836-B42B-47AF8D1B6648}"/>
              </a:ext>
            </a:extLst>
          </p:cNvPr>
          <p:cNvSpPr>
            <a:spLocks noGrp="1"/>
          </p:cNvSpPr>
          <p:nvPr/>
        </p:nvSpPr>
        <p:spPr>
          <a:xfrm>
            <a:off x="3429000" y="5105400"/>
            <a:ext cx="5334000" cy="647700"/>
          </a:xfrm>
          <a:prstGeom prst="roundRect">
            <a:avLst>
              <a:gd name="adj" fmla="val 23529"/>
            </a:avLst>
          </a:prstGeom>
          <a:solidFill>
            <a:srgbClr val="2B3442"/>
          </a:solidFill>
          <a:ln w="9525">
            <a:solidFill>
              <a:srgbClr val="313C4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Prostokąt 16">
            <a:extLst>
              <a:ext uri="{FF2B5EF4-FFF2-40B4-BE49-F238E27FC236}">
                <a16:creationId xmlns:a16="http://schemas.microsoft.com/office/drawing/2014/main" id="{3F0FBD1F-685C-4ED0-938C-33797AE8005F}"/>
              </a:ext>
            </a:extLst>
          </p:cNvPr>
          <p:cNvSpPr>
            <a:spLocks noGrp="1"/>
          </p:cNvSpPr>
          <p:nvPr/>
        </p:nvSpPr>
        <p:spPr>
          <a:xfrm>
            <a:off x="3429000" y="5238750"/>
            <a:ext cx="533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F6F7FB"/>
                </a:solidFill>
              </a:defRPr>
            </a:pPr>
            <a:r>
              <a:rPr sz="1800" b="1">
                <a:solidFill>
                  <a:srgbClr val="F6F7FB"/>
                </a:solidFill>
              </a:rPr>
              <a:t>Generated Face</a:t>
            </a:r>
          </a:p>
        </p:txBody>
      </p:sp>
      <p:sp>
        <p:nvSpPr>
          <p:cNvPr id="19" name="Prostokąt 18">
            <a:extLst>
              <a:ext uri="{FF2B5EF4-FFF2-40B4-BE49-F238E27FC236}">
                <a16:creationId xmlns:a16="http://schemas.microsoft.com/office/drawing/2014/main" id="{895C912F-33B9-4B2A-A97E-3DE01E3294A3}"/>
              </a:ext>
            </a:extLst>
          </p:cNvPr>
          <p:cNvSpPr>
            <a:spLocks noGrp="1"/>
          </p:cNvSpPr>
          <p:nvPr/>
        </p:nvSpPr>
        <p:spPr>
          <a:xfrm>
            <a:off x="9342783" y="2381250"/>
            <a:ext cx="2077278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F6F7FB"/>
                </a:solidFill>
              </a:defRPr>
            </a:pPr>
            <a:endParaRPr sz="1950" b="1" dirty="0">
              <a:solidFill>
                <a:srgbClr val="F6F7FB"/>
              </a:solidFill>
            </a:endParaRPr>
          </a:p>
        </p:txBody>
      </p:sp>
      <p:sp>
        <p:nvSpPr>
          <p:cNvPr id="20" name="Prostokąt 19">
            <a:extLst>
              <a:ext uri="{FF2B5EF4-FFF2-40B4-BE49-F238E27FC236}">
                <a16:creationId xmlns:a16="http://schemas.microsoft.com/office/drawing/2014/main" id="{430D6645-B5FE-42E4-9516-D21269051408}"/>
              </a:ext>
            </a:extLst>
          </p:cNvPr>
          <p:cNvSpPr>
            <a:spLocks noGrp="1"/>
          </p:cNvSpPr>
          <p:nvPr/>
        </p:nvSpPr>
        <p:spPr>
          <a:xfrm>
            <a:off x="9239250" y="4572000"/>
            <a:ext cx="2286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B7C0D1"/>
                </a:solidFill>
              </a:defRPr>
            </a:pPr>
            <a:endParaRPr sz="1350" dirty="0">
              <a:solidFill>
                <a:srgbClr val="B7C0D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5980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ostokąt 4">
            <a:extLst>
              <a:ext uri="{FF2B5EF4-FFF2-40B4-BE49-F238E27FC236}">
                <a16:creationId xmlns:a16="http://schemas.microsoft.com/office/drawing/2014/main" id="{D62DD357-BF8D-4FBE-B8C7-24CD4494039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334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300" b="1">
                <a:solidFill>
                  <a:srgbClr val="F6F7FB"/>
                </a:solidFill>
              </a:defRPr>
            </a:pPr>
            <a:r>
              <a:rPr sz="3300" b="1">
                <a:solidFill>
                  <a:srgbClr val="F6F7FB"/>
                </a:solidFill>
              </a:rPr>
              <a:t>Reconstruction</a:t>
            </a:r>
          </a:p>
        </p:txBody>
      </p:sp>
      <p:sp>
        <p:nvSpPr>
          <p:cNvPr id="2" name="Prostokąt 1">
            <a:extLst>
              <a:ext uri="{FF2B5EF4-FFF2-40B4-BE49-F238E27FC236}">
                <a16:creationId xmlns:a16="http://schemas.microsoft.com/office/drawing/2014/main" id="{08A070A5-44C9-4862-BF02-4E6A719CDACB}"/>
              </a:ext>
            </a:extLst>
          </p:cNvPr>
          <p:cNvSpPr>
            <a:spLocks noGrp="1"/>
          </p:cNvSpPr>
          <p:nvPr/>
        </p:nvSpPr>
        <p:spPr>
          <a:xfrm>
            <a:off x="609600" y="10096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B7C0D1"/>
                </a:solidFill>
              </a:defRPr>
            </a:pPr>
            <a:r>
              <a:rPr sz="1600" dirty="0">
                <a:solidFill>
                  <a:srgbClr val="B7C0D1"/>
                </a:solidFill>
              </a:rPr>
              <a:t>The model keeps the coarse identity and shape, but fine details become softer.</a:t>
            </a:r>
          </a:p>
        </p:txBody>
      </p:sp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C4ECD43E-3D1D-4CEE-8A8A-DFC09FDFED3C}"/>
              </a:ext>
            </a:extLst>
          </p:cNvPr>
          <p:cNvSpPr>
            <a:spLocks noGrp="1"/>
          </p:cNvSpPr>
          <p:nvPr/>
        </p:nvSpPr>
        <p:spPr>
          <a:xfrm>
            <a:off x="609600" y="1943100"/>
            <a:ext cx="10972800" cy="4267200"/>
          </a:xfrm>
          <a:prstGeom prst="roundRect">
            <a:avLst>
              <a:gd name="adj" fmla="val 4800"/>
            </a:avLst>
          </a:prstGeom>
          <a:solidFill>
            <a:srgbClr val="232A35"/>
          </a:solidFill>
          <a:ln w="9525">
            <a:solidFill>
              <a:srgbClr val="313C4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1" name="Obraz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2412009"/>
            <a:ext cx="10382250" cy="2605482"/>
          </a:xfrm>
          <a:prstGeom prst="roundRect">
            <a:avLst>
              <a:gd name="adj" fmla="val 3810"/>
            </a:avLst>
          </a:prstGeom>
        </p:spPr>
      </p:pic>
      <p:sp>
        <p:nvSpPr>
          <p:cNvPr id="6" name="Prostokąt 5">
            <a:extLst>
              <a:ext uri="{FF2B5EF4-FFF2-40B4-BE49-F238E27FC236}">
                <a16:creationId xmlns:a16="http://schemas.microsoft.com/office/drawing/2014/main" id="{44D382DC-8F8C-4014-B104-98839FC7A5FE}"/>
              </a:ext>
            </a:extLst>
          </p:cNvPr>
          <p:cNvSpPr>
            <a:spLocks noGrp="1"/>
          </p:cNvSpPr>
          <p:nvPr/>
        </p:nvSpPr>
        <p:spPr>
          <a:xfrm>
            <a:off x="819150" y="5753100"/>
            <a:ext cx="971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B7C0D1"/>
                </a:solidFill>
              </a:defRPr>
            </a:pPr>
            <a:r>
              <a:rPr sz="1350" dirty="0">
                <a:solidFill>
                  <a:srgbClr val="B7C0D1"/>
                </a:solidFill>
              </a:rPr>
              <a:t>Original and reconstructed faces stay visually close, but hairlines, eyes, and </a:t>
            </a:r>
            <a:r>
              <a:rPr lang="pl-PL" sz="1350" dirty="0" err="1">
                <a:solidFill>
                  <a:srgbClr val="B7C0D1"/>
                </a:solidFill>
              </a:rPr>
              <a:t>texture</a:t>
            </a:r>
            <a:r>
              <a:rPr sz="1350" dirty="0">
                <a:solidFill>
                  <a:srgbClr val="B7C0D1"/>
                </a:solidFill>
              </a:rPr>
              <a:t> details are simplified.</a:t>
            </a:r>
          </a:p>
        </p:txBody>
      </p:sp>
    </p:spTree>
    <p:extLst>
      <p:ext uri="{BB962C8B-B14F-4D97-AF65-F5344CB8AC3E}">
        <p14:creationId xmlns:p14="http://schemas.microsoft.com/office/powerpoint/2010/main" val="1646487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BC2978-4E4B-9A76-1626-8C9C73CEB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ostokąt 4">
            <a:extLst>
              <a:ext uri="{FF2B5EF4-FFF2-40B4-BE49-F238E27FC236}">
                <a16:creationId xmlns:a16="http://schemas.microsoft.com/office/drawing/2014/main" id="{9E679E73-3C9E-AD37-D27A-5DDBC53119E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334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300" b="1">
                <a:solidFill>
                  <a:srgbClr val="F6F7FB"/>
                </a:solidFill>
              </a:defRPr>
            </a:pPr>
            <a:r>
              <a:rPr lang="pl-PL" sz="3300" b="1" dirty="0" err="1">
                <a:solidFill>
                  <a:srgbClr val="F6F7FB"/>
                </a:solidFill>
              </a:rPr>
              <a:t>Generation</a:t>
            </a:r>
            <a:endParaRPr sz="3300" b="1" dirty="0">
              <a:solidFill>
                <a:srgbClr val="F6F7FB"/>
              </a:solidFill>
            </a:endParaRPr>
          </a:p>
        </p:txBody>
      </p:sp>
      <p:sp>
        <p:nvSpPr>
          <p:cNvPr id="2" name="Prostokąt 1">
            <a:extLst>
              <a:ext uri="{FF2B5EF4-FFF2-40B4-BE49-F238E27FC236}">
                <a16:creationId xmlns:a16="http://schemas.microsoft.com/office/drawing/2014/main" id="{9C36E8AF-0E36-B89D-BD98-017DFEE29089}"/>
              </a:ext>
            </a:extLst>
          </p:cNvPr>
          <p:cNvSpPr>
            <a:spLocks noGrp="1"/>
          </p:cNvSpPr>
          <p:nvPr/>
        </p:nvSpPr>
        <p:spPr>
          <a:xfrm>
            <a:off x="609600" y="10096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B7C0D1"/>
                </a:solidFill>
              </a:defRPr>
            </a:pPr>
            <a:endParaRPr sz="1600" dirty="0">
              <a:solidFill>
                <a:srgbClr val="B7C0D1"/>
              </a:solidFill>
            </a:endParaRPr>
          </a:p>
        </p:txBody>
      </p:sp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1710FF74-752B-A7BA-6B10-2D9A06D57705}"/>
              </a:ext>
            </a:extLst>
          </p:cNvPr>
          <p:cNvSpPr>
            <a:spLocks noGrp="1"/>
          </p:cNvSpPr>
          <p:nvPr/>
        </p:nvSpPr>
        <p:spPr>
          <a:xfrm>
            <a:off x="609600" y="1943100"/>
            <a:ext cx="10972800" cy="4267200"/>
          </a:xfrm>
          <a:prstGeom prst="roundRect">
            <a:avLst>
              <a:gd name="adj" fmla="val 4800"/>
            </a:avLst>
          </a:prstGeom>
          <a:solidFill>
            <a:srgbClr val="232A35"/>
          </a:solidFill>
          <a:ln w="9525">
            <a:solidFill>
              <a:srgbClr val="313C4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AFAFDF6E-FD09-BDAB-275C-FF71E8C012C3}"/>
              </a:ext>
            </a:extLst>
          </p:cNvPr>
          <p:cNvSpPr>
            <a:spLocks noGrp="1"/>
          </p:cNvSpPr>
          <p:nvPr/>
        </p:nvSpPr>
        <p:spPr>
          <a:xfrm>
            <a:off x="819150" y="5753100"/>
            <a:ext cx="971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B7C0D1"/>
                </a:solidFill>
              </a:defRPr>
            </a:pPr>
            <a:endParaRPr sz="1350" dirty="0">
              <a:solidFill>
                <a:srgbClr val="B7C0D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165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stokąt 6">
            <a:extLst>
              <a:ext uri="{FF2B5EF4-FFF2-40B4-BE49-F238E27FC236}">
                <a16:creationId xmlns:a16="http://schemas.microsoft.com/office/drawing/2014/main" id="{BABAAF52-9F6E-43A6-AC6F-A021119AB49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334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300" b="1">
                <a:solidFill>
                  <a:srgbClr val="F6F7FB"/>
                </a:solidFill>
              </a:defRPr>
            </a:pPr>
            <a:r>
              <a:rPr sz="3300" b="1" dirty="0">
                <a:solidFill>
                  <a:srgbClr val="F6F7FB"/>
                </a:solidFill>
              </a:rPr>
              <a:t>Attribute manipulation</a:t>
            </a:r>
          </a:p>
        </p:txBody>
      </p:sp>
      <p:sp>
        <p:nvSpPr>
          <p:cNvPr id="2" name="Prostokąt 1">
            <a:extLst>
              <a:ext uri="{FF2B5EF4-FFF2-40B4-BE49-F238E27FC236}">
                <a16:creationId xmlns:a16="http://schemas.microsoft.com/office/drawing/2014/main" id="{5522F3E6-3E35-48E2-AFD2-0DC17B4BA9CA}"/>
              </a:ext>
            </a:extLst>
          </p:cNvPr>
          <p:cNvSpPr>
            <a:spLocks noGrp="1"/>
          </p:cNvSpPr>
          <p:nvPr/>
        </p:nvSpPr>
        <p:spPr>
          <a:xfrm>
            <a:off x="609600" y="10096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B7C0D1"/>
                </a:solidFill>
              </a:defRPr>
            </a:pPr>
            <a:r>
              <a:rPr sz="1500" dirty="0">
                <a:solidFill>
                  <a:srgbClr val="B7C0D1"/>
                </a:solidFill>
              </a:rPr>
              <a:t>Same latent code, changing only the attribute vector.</a:t>
            </a: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5FECE95C-7DB3-4117-BE99-8CEC470C8ACB}"/>
              </a:ext>
            </a:extLst>
          </p:cNvPr>
          <p:cNvSpPr>
            <a:spLocks noGrp="1"/>
          </p:cNvSpPr>
          <p:nvPr/>
        </p:nvSpPr>
        <p:spPr>
          <a:xfrm>
            <a:off x="1010892" y="1524000"/>
            <a:ext cx="1540565" cy="3150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F6F7FB"/>
                </a:solidFill>
              </a:defRPr>
            </a:pPr>
            <a:r>
              <a:rPr sz="1400" b="1" dirty="0">
                <a:solidFill>
                  <a:srgbClr val="F6F7FB"/>
                </a:solidFill>
              </a:rPr>
              <a:t>Male  1  →  </a:t>
            </a:r>
            <a:r>
              <a:rPr lang="pl-PL" sz="1400" b="1" dirty="0">
                <a:solidFill>
                  <a:srgbClr val="F6F7FB"/>
                </a:solidFill>
              </a:rPr>
              <a:t>-</a:t>
            </a:r>
            <a:r>
              <a:rPr sz="1400" b="1" dirty="0">
                <a:solidFill>
                  <a:srgbClr val="F6F7FB"/>
                </a:solidFill>
              </a:rPr>
              <a:t>1</a:t>
            </a:r>
          </a:p>
        </p:txBody>
      </p:sp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2D7AC4E3-3CE0-457C-BFC0-05558F28348A}"/>
              </a:ext>
            </a:extLst>
          </p:cNvPr>
          <p:cNvSpPr>
            <a:spLocks noGrp="1"/>
          </p:cNvSpPr>
          <p:nvPr/>
        </p:nvSpPr>
        <p:spPr>
          <a:xfrm>
            <a:off x="666750" y="1828800"/>
            <a:ext cx="10858500" cy="2152650"/>
          </a:xfrm>
          <a:prstGeom prst="roundRect">
            <a:avLst>
              <a:gd name="adj" fmla="val 10619"/>
            </a:avLst>
          </a:prstGeom>
          <a:solidFill>
            <a:srgbClr val="232A35"/>
          </a:solidFill>
          <a:ln w="9525">
            <a:solidFill>
              <a:srgbClr val="313C4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9" name="Obraz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2220060"/>
            <a:ext cx="10477500" cy="1351081"/>
          </a:xfrm>
          <a:prstGeom prst="roundRect">
            <a:avLst>
              <a:gd name="adj" fmla="val 8333"/>
            </a:avLst>
          </a:prstGeom>
        </p:spPr>
      </p:pic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FE198FEB-DEED-4474-B245-A2A85DA9EE1E}"/>
              </a:ext>
            </a:extLst>
          </p:cNvPr>
          <p:cNvSpPr>
            <a:spLocks noGrp="1"/>
          </p:cNvSpPr>
          <p:nvPr/>
        </p:nvSpPr>
        <p:spPr>
          <a:xfrm>
            <a:off x="781050" y="4171950"/>
            <a:ext cx="2000250" cy="323850"/>
          </a:xfrm>
          <a:prstGeom prst="roundRect">
            <a:avLst>
              <a:gd name="adj" fmla="val 50000"/>
            </a:avLst>
          </a:prstGeom>
          <a:solidFill>
            <a:srgbClr val="2B3442"/>
          </a:solidFill>
          <a:ln w="9525">
            <a:solidFill>
              <a:srgbClr val="4EA1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02A843E2-F75D-4BFD-95B3-BA2F463C69D6}"/>
              </a:ext>
            </a:extLst>
          </p:cNvPr>
          <p:cNvSpPr>
            <a:spLocks noGrp="1"/>
          </p:cNvSpPr>
          <p:nvPr/>
        </p:nvSpPr>
        <p:spPr>
          <a:xfrm>
            <a:off x="914400" y="4229100"/>
            <a:ext cx="1733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F6F7FB"/>
                </a:solidFill>
              </a:defRPr>
            </a:pPr>
            <a:r>
              <a:rPr sz="1125" b="1" dirty="0">
                <a:solidFill>
                  <a:srgbClr val="F6F7FB"/>
                </a:solidFill>
              </a:rPr>
              <a:t>Eyeglasses  1  →</a:t>
            </a:r>
            <a:r>
              <a:rPr lang="pl-PL" sz="1125" b="1" dirty="0">
                <a:solidFill>
                  <a:srgbClr val="F6F7FB"/>
                </a:solidFill>
              </a:rPr>
              <a:t> -1</a:t>
            </a:r>
            <a:endParaRPr sz="1125" b="1" dirty="0">
              <a:solidFill>
                <a:srgbClr val="F6F7FB"/>
              </a:solidFill>
            </a:endParaRPr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EAACF3FA-2E1E-4000-849D-BB075902D6FF}"/>
              </a:ext>
            </a:extLst>
          </p:cNvPr>
          <p:cNvSpPr>
            <a:spLocks noGrp="1"/>
          </p:cNvSpPr>
          <p:nvPr/>
        </p:nvSpPr>
        <p:spPr>
          <a:xfrm>
            <a:off x="666750" y="4533900"/>
            <a:ext cx="10858500" cy="1619250"/>
          </a:xfrm>
          <a:prstGeom prst="roundRect">
            <a:avLst>
              <a:gd name="adj" fmla="val 14118"/>
            </a:avLst>
          </a:prstGeom>
          <a:solidFill>
            <a:srgbClr val="232A35"/>
          </a:solidFill>
          <a:ln w="9525">
            <a:solidFill>
              <a:srgbClr val="313C4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23" name="Obraz 2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25419" y="4667250"/>
            <a:ext cx="10341162" cy="1333500"/>
          </a:xfrm>
          <a:prstGeom prst="roundRect">
            <a:avLst>
              <a:gd name="adj" fmla="val 11429"/>
            </a:avLst>
          </a:prstGeom>
        </p:spPr>
      </p:pic>
      <p:sp>
        <p:nvSpPr>
          <p:cNvPr id="12" name="Prostokąt 11">
            <a:extLst>
              <a:ext uri="{FF2B5EF4-FFF2-40B4-BE49-F238E27FC236}">
                <a16:creationId xmlns:a16="http://schemas.microsoft.com/office/drawing/2014/main" id="{2557B40A-B9A7-4084-9401-88709DF39CA8}"/>
              </a:ext>
            </a:extLst>
          </p:cNvPr>
          <p:cNvSpPr>
            <a:spLocks noGrp="1"/>
          </p:cNvSpPr>
          <p:nvPr/>
        </p:nvSpPr>
        <p:spPr>
          <a:xfrm>
            <a:off x="781050" y="6210300"/>
            <a:ext cx="1047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B7C0D1"/>
                </a:solidFill>
              </a:defRPr>
            </a:pPr>
            <a:r>
              <a:rPr sz="1350">
                <a:solidFill>
                  <a:srgbClr val="B7C0D1"/>
                </a:solidFill>
              </a:rPr>
              <a:t>This is the proof that the CVAE is not just generating faces, but also moving along a controllable attribute direction.</a:t>
            </a:r>
          </a:p>
        </p:txBody>
      </p:sp>
    </p:spTree>
    <p:extLst>
      <p:ext uri="{BB962C8B-B14F-4D97-AF65-F5344CB8AC3E}">
        <p14:creationId xmlns:p14="http://schemas.microsoft.com/office/powerpoint/2010/main" val="6158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stokąt 6">
            <a:extLst>
              <a:ext uri="{FF2B5EF4-FFF2-40B4-BE49-F238E27FC236}">
                <a16:creationId xmlns:a16="http://schemas.microsoft.com/office/drawing/2014/main" id="{B4252BB7-C9DE-4ABD-AA9D-129D44CB02A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334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300" b="1">
                <a:solidFill>
                  <a:srgbClr val="F6F7FB"/>
                </a:solidFill>
              </a:defRPr>
            </a:pPr>
            <a:r>
              <a:rPr lang="pl-PL" sz="3300" b="1" dirty="0" err="1">
                <a:solidFill>
                  <a:srgbClr val="F6F7FB"/>
                </a:solidFill>
              </a:rPr>
              <a:t>Limitations</a:t>
            </a:r>
            <a:r>
              <a:rPr lang="pl-PL" sz="3300" b="1" dirty="0">
                <a:solidFill>
                  <a:srgbClr val="F6F7FB"/>
                </a:solidFill>
              </a:rPr>
              <a:t> - </a:t>
            </a:r>
            <a:r>
              <a:rPr lang="pl-PL" sz="3300" b="1" dirty="0" err="1">
                <a:solidFill>
                  <a:srgbClr val="F6F7FB"/>
                </a:solidFill>
              </a:rPr>
              <a:t>Attribute</a:t>
            </a:r>
            <a:r>
              <a:rPr lang="pl-PL" sz="3300" b="1" dirty="0">
                <a:solidFill>
                  <a:srgbClr val="F6F7FB"/>
                </a:solidFill>
              </a:rPr>
              <a:t> </a:t>
            </a:r>
            <a:r>
              <a:rPr lang="pl-PL" sz="3300" b="1" dirty="0" err="1">
                <a:solidFill>
                  <a:srgbClr val="F6F7FB"/>
                </a:solidFill>
              </a:rPr>
              <a:t>manipulation</a:t>
            </a:r>
            <a:endParaRPr lang="pl-PL" sz="3300" b="1" dirty="0">
              <a:solidFill>
                <a:srgbClr val="F6F7FB"/>
              </a:solidFill>
            </a:endParaRPr>
          </a:p>
          <a:p>
            <a:pPr>
              <a:defRPr sz="3300" b="1">
                <a:solidFill>
                  <a:srgbClr val="F6F7FB"/>
                </a:solidFill>
              </a:defRPr>
            </a:pPr>
            <a:endParaRPr sz="3300" b="1" dirty="0">
              <a:solidFill>
                <a:srgbClr val="F6F7FB"/>
              </a:solidFill>
            </a:endParaRPr>
          </a:p>
        </p:txBody>
      </p:sp>
      <p:sp>
        <p:nvSpPr>
          <p:cNvPr id="2" name="Prostokąt 1">
            <a:extLst>
              <a:ext uri="{FF2B5EF4-FFF2-40B4-BE49-F238E27FC236}">
                <a16:creationId xmlns:a16="http://schemas.microsoft.com/office/drawing/2014/main" id="{9563FC7F-6EBE-4DCF-B2EC-55FE86D34F76}"/>
              </a:ext>
            </a:extLst>
          </p:cNvPr>
          <p:cNvSpPr>
            <a:spLocks noGrp="1"/>
          </p:cNvSpPr>
          <p:nvPr/>
        </p:nvSpPr>
        <p:spPr>
          <a:xfrm>
            <a:off x="609600" y="1009650"/>
            <a:ext cx="9334500" cy="8485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B7C0D1"/>
                </a:solidFill>
              </a:defRPr>
            </a:pPr>
            <a:r>
              <a:rPr lang="pl-PL" sz="1600" dirty="0" err="1"/>
              <a:t>Changing</a:t>
            </a:r>
            <a:r>
              <a:rPr lang="pl-PL" sz="1600" dirty="0"/>
              <a:t> a single </a:t>
            </a:r>
            <a:r>
              <a:rPr lang="pl-PL" sz="1600" dirty="0" err="1"/>
              <a:t>attribute</a:t>
            </a:r>
            <a:r>
              <a:rPr lang="pl-PL" sz="1600" dirty="0"/>
              <a:t> </a:t>
            </a:r>
            <a:r>
              <a:rPr lang="pl-PL" sz="1600" dirty="0" err="1"/>
              <a:t>can</a:t>
            </a:r>
            <a:r>
              <a:rPr lang="pl-PL" sz="1600" dirty="0"/>
              <a:t> </a:t>
            </a:r>
            <a:r>
              <a:rPr lang="pl-PL" sz="1600" dirty="0" err="1"/>
              <a:t>affect</a:t>
            </a:r>
            <a:r>
              <a:rPr lang="pl-PL" sz="1600" dirty="0"/>
              <a:t> </a:t>
            </a:r>
            <a:r>
              <a:rPr lang="pl-PL" sz="1600" dirty="0" err="1"/>
              <a:t>more</a:t>
            </a:r>
            <a:r>
              <a:rPr lang="pl-PL" sz="1600" dirty="0"/>
              <a:t> </a:t>
            </a:r>
            <a:r>
              <a:rPr lang="pl-PL" sz="1600" dirty="0" err="1"/>
              <a:t>than</a:t>
            </a:r>
            <a:r>
              <a:rPr lang="pl-PL" sz="1600" dirty="0"/>
              <a:t> the </a:t>
            </a:r>
            <a:r>
              <a:rPr lang="pl-PL" sz="1600" dirty="0" err="1"/>
              <a:t>intended</a:t>
            </a:r>
            <a:r>
              <a:rPr lang="pl-PL" sz="1600" dirty="0"/>
              <a:t> </a:t>
            </a:r>
            <a:r>
              <a:rPr lang="pl-PL" sz="1600" dirty="0" err="1"/>
              <a:t>feature</a:t>
            </a:r>
            <a:r>
              <a:rPr lang="pl-PL" sz="1600" dirty="0"/>
              <a:t>.</a:t>
            </a:r>
            <a:br>
              <a:rPr lang="pl-PL" sz="1600" dirty="0"/>
            </a:br>
            <a:r>
              <a:rPr lang="pl-PL" sz="1600" dirty="0"/>
              <a:t>In </a:t>
            </a:r>
            <a:r>
              <a:rPr lang="pl-PL" sz="1600" dirty="0" err="1"/>
              <a:t>this</a:t>
            </a:r>
            <a:r>
              <a:rPr lang="pl-PL" sz="1600" dirty="0"/>
              <a:t> </a:t>
            </a:r>
            <a:r>
              <a:rPr lang="pl-PL" sz="1600" dirty="0" err="1"/>
              <a:t>example</a:t>
            </a:r>
            <a:r>
              <a:rPr lang="pl-PL" sz="1600" dirty="0"/>
              <a:t>, </a:t>
            </a:r>
            <a:r>
              <a:rPr lang="pl-PL" sz="1600" dirty="0" err="1"/>
              <a:t>switching</a:t>
            </a:r>
            <a:r>
              <a:rPr lang="pl-PL" sz="1600" dirty="0"/>
              <a:t> </a:t>
            </a:r>
            <a:r>
              <a:rPr lang="pl-PL" sz="1600" i="1" dirty="0"/>
              <a:t>Black </a:t>
            </a:r>
            <a:r>
              <a:rPr lang="pl-PL" sz="1600" i="1" dirty="0" err="1"/>
              <a:t>Hair</a:t>
            </a:r>
            <a:r>
              <a:rPr lang="pl-PL" sz="1600" dirty="0"/>
              <a:t> to </a:t>
            </a:r>
            <a:r>
              <a:rPr lang="pl-PL" sz="1600" i="1" dirty="0"/>
              <a:t>Blond </a:t>
            </a:r>
            <a:r>
              <a:rPr lang="pl-PL" sz="1600" i="1" dirty="0" err="1"/>
              <a:t>Hair</a:t>
            </a:r>
            <a:r>
              <a:rPr lang="pl-PL" sz="1600" dirty="0"/>
              <a:t> </a:t>
            </a:r>
            <a:r>
              <a:rPr lang="pl-PL" sz="1600" dirty="0" err="1"/>
              <a:t>changes</a:t>
            </a:r>
            <a:r>
              <a:rPr lang="pl-PL" sz="1600" dirty="0"/>
              <a:t> not </a:t>
            </a:r>
            <a:r>
              <a:rPr lang="pl-PL" sz="1600" dirty="0" err="1"/>
              <a:t>only</a:t>
            </a:r>
            <a:r>
              <a:rPr lang="pl-PL" sz="1600" dirty="0"/>
              <a:t> </a:t>
            </a:r>
            <a:r>
              <a:rPr lang="pl-PL" sz="1600" dirty="0" err="1"/>
              <a:t>hair</a:t>
            </a:r>
            <a:r>
              <a:rPr lang="pl-PL" sz="1600" dirty="0"/>
              <a:t> </a:t>
            </a:r>
            <a:r>
              <a:rPr lang="pl-PL" sz="1600" dirty="0" err="1"/>
              <a:t>color</a:t>
            </a:r>
            <a:r>
              <a:rPr lang="pl-PL" sz="1600" dirty="0"/>
              <a:t>, but </a:t>
            </a:r>
            <a:r>
              <a:rPr lang="pl-PL" sz="1600" dirty="0" err="1"/>
              <a:t>also</a:t>
            </a:r>
            <a:r>
              <a:rPr lang="pl-PL" sz="1600" dirty="0"/>
              <a:t> skin </a:t>
            </a:r>
            <a:r>
              <a:rPr lang="pl-PL" sz="1600" dirty="0" err="1"/>
              <a:t>tone</a:t>
            </a:r>
            <a:r>
              <a:rPr lang="pl-PL" sz="1600" dirty="0"/>
              <a:t> and the </a:t>
            </a:r>
            <a:r>
              <a:rPr lang="pl-PL" sz="1600" dirty="0" err="1"/>
              <a:t>overall</a:t>
            </a:r>
            <a:r>
              <a:rPr lang="pl-PL" sz="1600" dirty="0"/>
              <a:t> </a:t>
            </a:r>
            <a:r>
              <a:rPr lang="pl-PL" sz="1600" dirty="0" err="1"/>
              <a:t>appearance</a:t>
            </a:r>
            <a:r>
              <a:rPr lang="pl-PL" sz="1600" dirty="0"/>
              <a:t> of the face.</a:t>
            </a:r>
            <a:endParaRPr sz="1600" dirty="0">
              <a:solidFill>
                <a:srgbClr val="B7C0D1"/>
              </a:solidFill>
            </a:endParaRPr>
          </a:p>
        </p:txBody>
      </p:sp>
      <p:sp>
        <p:nvSpPr>
          <p:cNvPr id="28" name="Prostokąt 27">
            <a:extLst>
              <a:ext uri="{FF2B5EF4-FFF2-40B4-BE49-F238E27FC236}">
                <a16:creationId xmlns:a16="http://schemas.microsoft.com/office/drawing/2014/main" id="{8119304B-292C-48B2-AAAB-B6E6E599A76F}"/>
              </a:ext>
            </a:extLst>
          </p:cNvPr>
          <p:cNvSpPr>
            <a:spLocks noGrp="1"/>
          </p:cNvSpPr>
          <p:nvPr/>
        </p:nvSpPr>
        <p:spPr>
          <a:xfrm>
            <a:off x="781050" y="6343650"/>
            <a:ext cx="1047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B7C0D1"/>
                </a:solidFill>
              </a:defRPr>
            </a:pPr>
            <a:r>
              <a:rPr sz="1350">
                <a:solidFill>
                  <a:srgbClr val="B7C0D1"/>
                </a:solidFill>
              </a:rPr>
              <a:t>The main story is visible even when the attribute is not perfectly isolated: the output still changes, but not always cleanly.</a:t>
            </a:r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3FE48915-49C9-E0C5-F051-B6030F82D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615" y="2506042"/>
            <a:ext cx="3134162" cy="3096057"/>
          </a:xfrm>
          <a:prstGeom prst="rect">
            <a:avLst/>
          </a:prstGeom>
        </p:spPr>
      </p:pic>
      <p:pic>
        <p:nvPicPr>
          <p:cNvPr id="17" name="Obraz 16">
            <a:extLst>
              <a:ext uri="{FF2B5EF4-FFF2-40B4-BE49-F238E27FC236}">
                <a16:creationId xmlns:a16="http://schemas.microsoft.com/office/drawing/2014/main" id="{825ACBD4-09C1-4055-D0B3-F0A0E6FE06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1626" y="2506042"/>
            <a:ext cx="3134162" cy="3124519"/>
          </a:xfrm>
          <a:prstGeom prst="rect">
            <a:avLst/>
          </a:prstGeom>
        </p:spPr>
      </p:pic>
      <p:sp>
        <p:nvSpPr>
          <p:cNvPr id="19" name="pole tekstowe 18">
            <a:extLst>
              <a:ext uri="{FF2B5EF4-FFF2-40B4-BE49-F238E27FC236}">
                <a16:creationId xmlns:a16="http://schemas.microsoft.com/office/drawing/2014/main" id="{B55AF3C8-06BA-D8FA-91A7-CDC7F89D979E}"/>
              </a:ext>
            </a:extLst>
          </p:cNvPr>
          <p:cNvSpPr txBox="1"/>
          <p:nvPr/>
        </p:nvSpPr>
        <p:spPr>
          <a:xfrm>
            <a:off x="1784079" y="2042896"/>
            <a:ext cx="2454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bg1">
                    <a:lumMod val="85000"/>
                  </a:schemeClr>
                </a:solidFill>
              </a:rPr>
              <a:t>Male, Black </a:t>
            </a:r>
            <a:r>
              <a:rPr lang="pl-PL" dirty="0" err="1">
                <a:solidFill>
                  <a:schemeClr val="bg1">
                    <a:lumMod val="85000"/>
                  </a:schemeClr>
                </a:solidFill>
              </a:rPr>
              <a:t>hair</a:t>
            </a:r>
            <a:endParaRPr lang="pl-PL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0795DAB1-ED24-0F78-5E92-B660200583E4}"/>
              </a:ext>
            </a:extLst>
          </p:cNvPr>
          <p:cNvSpPr txBox="1"/>
          <p:nvPr/>
        </p:nvSpPr>
        <p:spPr>
          <a:xfrm>
            <a:off x="6649276" y="2042896"/>
            <a:ext cx="18188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bg1">
                    <a:lumMod val="85000"/>
                  </a:schemeClr>
                </a:solidFill>
              </a:rPr>
              <a:t>Male, Blond </a:t>
            </a:r>
            <a:r>
              <a:rPr lang="pl-PL" dirty="0" err="1">
                <a:solidFill>
                  <a:schemeClr val="bg1">
                    <a:lumMod val="85000"/>
                  </a:schemeClr>
                </a:solidFill>
              </a:rPr>
              <a:t>hair</a:t>
            </a:r>
            <a:endParaRPr lang="pl-PL" dirty="0">
              <a:solidFill>
                <a:schemeClr val="bg1">
                  <a:lumMod val="85000"/>
                </a:schemeClr>
              </a:solidFill>
            </a:endParaRP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36735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ostokąt 4">
            <a:extLst>
              <a:ext uri="{FF2B5EF4-FFF2-40B4-BE49-F238E27FC236}">
                <a16:creationId xmlns:a16="http://schemas.microsoft.com/office/drawing/2014/main" id="{82704A83-CBA4-4809-A498-6793B9BA5B0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334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300" b="1">
                <a:solidFill>
                  <a:srgbClr val="F6F7FB"/>
                </a:solidFill>
              </a:defRPr>
            </a:pPr>
            <a:r>
              <a:rPr lang="pl-PL" sz="3300" b="1" dirty="0" err="1"/>
              <a:t>Limitation</a:t>
            </a:r>
            <a:r>
              <a:rPr lang="pl-PL" sz="3300" b="1" dirty="0"/>
              <a:t>: </a:t>
            </a:r>
            <a:r>
              <a:rPr lang="pl-PL" sz="3300" b="1" dirty="0" err="1"/>
              <a:t>Incomplete</a:t>
            </a:r>
            <a:r>
              <a:rPr lang="pl-PL" sz="3300" b="1" dirty="0"/>
              <a:t> </a:t>
            </a:r>
            <a:r>
              <a:rPr lang="pl-PL" sz="3300" b="1" dirty="0" err="1"/>
              <a:t>Attribute</a:t>
            </a:r>
            <a:r>
              <a:rPr lang="pl-PL" sz="3300" b="1" dirty="0"/>
              <a:t> </a:t>
            </a:r>
            <a:r>
              <a:rPr lang="pl-PL" sz="3300" b="1" dirty="0" err="1"/>
              <a:t>Understanding</a:t>
            </a:r>
            <a:endParaRPr sz="3300" b="1" dirty="0">
              <a:solidFill>
                <a:srgbClr val="F6F7FB"/>
              </a:solidFill>
            </a:endParaRPr>
          </a:p>
        </p:txBody>
      </p:sp>
      <p:pic>
        <p:nvPicPr>
          <p:cNvPr id="19" name="Obraz 18">
            <a:extLst>
              <a:ext uri="{FF2B5EF4-FFF2-40B4-BE49-F238E27FC236}">
                <a16:creationId xmlns:a16="http://schemas.microsoft.com/office/drawing/2014/main" id="{D77DFEB9-459C-9688-93BA-787D484B03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89" y="2656902"/>
            <a:ext cx="3730910" cy="3708230"/>
          </a:xfrm>
          <a:prstGeom prst="rect">
            <a:avLst/>
          </a:prstGeom>
        </p:spPr>
      </p:pic>
      <p:pic>
        <p:nvPicPr>
          <p:cNvPr id="21" name="Obraz 20">
            <a:extLst>
              <a:ext uri="{FF2B5EF4-FFF2-40B4-BE49-F238E27FC236}">
                <a16:creationId xmlns:a16="http://schemas.microsoft.com/office/drawing/2014/main" id="{4776F029-2390-7AD1-03AB-C86C79850E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419" y="2657040"/>
            <a:ext cx="3730911" cy="3708092"/>
          </a:xfrm>
          <a:prstGeom prst="rect">
            <a:avLst/>
          </a:prstGeom>
        </p:spPr>
      </p:pic>
      <p:sp>
        <p:nvSpPr>
          <p:cNvPr id="22" name="pole tekstowe 21">
            <a:extLst>
              <a:ext uri="{FF2B5EF4-FFF2-40B4-BE49-F238E27FC236}">
                <a16:creationId xmlns:a16="http://schemas.microsoft.com/office/drawing/2014/main" id="{1B91C108-BC26-C078-66F2-3226040F59C7}"/>
              </a:ext>
            </a:extLst>
          </p:cNvPr>
          <p:cNvSpPr txBox="1"/>
          <p:nvPr/>
        </p:nvSpPr>
        <p:spPr>
          <a:xfrm>
            <a:off x="781867" y="1085850"/>
            <a:ext cx="10455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bg1">
                    <a:lumMod val="85000"/>
                  </a:schemeClr>
                </a:solidFill>
              </a:rPr>
              <a:t>The model </a:t>
            </a:r>
            <a:r>
              <a:rPr lang="pl-PL" dirty="0" err="1">
                <a:solidFill>
                  <a:schemeClr val="bg1">
                    <a:lumMod val="85000"/>
                  </a:schemeClr>
                </a:solidFill>
              </a:rPr>
              <a:t>does</a:t>
            </a:r>
            <a:r>
              <a:rPr lang="pl-PL" dirty="0">
                <a:solidFill>
                  <a:schemeClr val="bg1">
                    <a:lumMod val="85000"/>
                  </a:schemeClr>
                </a:solidFill>
              </a:rPr>
              <a:t> not </a:t>
            </a:r>
            <a:r>
              <a:rPr lang="pl-PL" dirty="0" err="1">
                <a:solidFill>
                  <a:schemeClr val="bg1">
                    <a:lumMod val="85000"/>
                  </a:schemeClr>
                </a:solidFill>
              </a:rPr>
              <a:t>truly</a:t>
            </a:r>
            <a:r>
              <a:rPr lang="pl-PL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pl-PL" dirty="0" err="1">
                <a:solidFill>
                  <a:schemeClr val="bg1">
                    <a:lumMod val="85000"/>
                  </a:schemeClr>
                </a:solidFill>
              </a:rPr>
              <a:t>understand</a:t>
            </a:r>
            <a:r>
              <a:rPr lang="pl-PL" dirty="0">
                <a:solidFill>
                  <a:schemeClr val="bg1">
                    <a:lumMod val="85000"/>
                  </a:schemeClr>
                </a:solidFill>
              </a:rPr>
              <a:t> the </a:t>
            </a:r>
            <a:r>
              <a:rPr lang="pl-PL" dirty="0" err="1">
                <a:solidFill>
                  <a:schemeClr val="bg1">
                    <a:lumMod val="85000"/>
                  </a:schemeClr>
                </a:solidFill>
              </a:rPr>
              <a:t>concept</a:t>
            </a:r>
            <a:r>
              <a:rPr lang="pl-PL" dirty="0">
                <a:solidFill>
                  <a:schemeClr val="bg1">
                    <a:lumMod val="85000"/>
                  </a:schemeClr>
                </a:solidFill>
              </a:rPr>
              <a:t> of "</a:t>
            </a:r>
            <a:r>
              <a:rPr lang="pl-PL" dirty="0" err="1">
                <a:solidFill>
                  <a:schemeClr val="bg1">
                    <a:lumMod val="85000"/>
                  </a:schemeClr>
                </a:solidFill>
              </a:rPr>
              <a:t>baldness</a:t>
            </a:r>
            <a:r>
              <a:rPr lang="pl-PL" dirty="0">
                <a:solidFill>
                  <a:schemeClr val="bg1">
                    <a:lumMod val="85000"/>
                  </a:schemeClr>
                </a:solidFill>
              </a:rPr>
              <a:t>". </a:t>
            </a:r>
            <a:r>
              <a:rPr lang="pl-PL" dirty="0" err="1">
                <a:solidFill>
                  <a:schemeClr val="bg1">
                    <a:lumMod val="85000"/>
                  </a:schemeClr>
                </a:solidFill>
              </a:rPr>
              <a:t>Instead</a:t>
            </a:r>
            <a:r>
              <a:rPr lang="pl-PL" dirty="0">
                <a:solidFill>
                  <a:schemeClr val="bg1">
                    <a:lumMod val="85000"/>
                  </a:schemeClr>
                </a:solidFill>
              </a:rPr>
              <a:t> of </a:t>
            </a:r>
            <a:r>
              <a:rPr lang="pl-PL" dirty="0" err="1">
                <a:solidFill>
                  <a:schemeClr val="bg1">
                    <a:lumMod val="85000"/>
                  </a:schemeClr>
                </a:solidFill>
              </a:rPr>
              <a:t>removing</a:t>
            </a:r>
            <a:r>
              <a:rPr lang="pl-PL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pl-PL" dirty="0" err="1">
                <a:solidFill>
                  <a:schemeClr val="bg1">
                    <a:lumMod val="85000"/>
                  </a:schemeClr>
                </a:solidFill>
              </a:rPr>
              <a:t>hair</a:t>
            </a:r>
            <a:r>
              <a:rPr lang="pl-PL" dirty="0">
                <a:solidFill>
                  <a:schemeClr val="bg1">
                    <a:lumMod val="85000"/>
                  </a:schemeClr>
                </a:solidFill>
              </a:rPr>
              <a:t>, </a:t>
            </a:r>
            <a:r>
              <a:rPr lang="pl-PL" dirty="0" err="1">
                <a:solidFill>
                  <a:schemeClr val="bg1">
                    <a:lumMod val="85000"/>
                  </a:schemeClr>
                </a:solidFill>
              </a:rPr>
              <a:t>it</a:t>
            </a:r>
            <a:r>
              <a:rPr lang="pl-PL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pl-PL" dirty="0" err="1">
                <a:solidFill>
                  <a:schemeClr val="bg1">
                    <a:lumMod val="85000"/>
                  </a:schemeClr>
                </a:solidFill>
              </a:rPr>
              <a:t>mainly</a:t>
            </a:r>
            <a:r>
              <a:rPr lang="pl-PL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pl-PL" dirty="0" err="1">
                <a:solidFill>
                  <a:schemeClr val="bg1">
                    <a:lumMod val="85000"/>
                  </a:schemeClr>
                </a:solidFill>
              </a:rPr>
              <a:t>changes</a:t>
            </a:r>
            <a:r>
              <a:rPr lang="pl-PL" dirty="0">
                <a:solidFill>
                  <a:schemeClr val="bg1">
                    <a:lumMod val="85000"/>
                  </a:schemeClr>
                </a:solidFill>
              </a:rPr>
              <a:t> the </a:t>
            </a:r>
            <a:r>
              <a:rPr lang="pl-PL" dirty="0" err="1">
                <a:solidFill>
                  <a:schemeClr val="bg1">
                    <a:lumMod val="85000"/>
                  </a:schemeClr>
                </a:solidFill>
              </a:rPr>
              <a:t>appearance</a:t>
            </a:r>
            <a:r>
              <a:rPr lang="pl-PL" dirty="0">
                <a:solidFill>
                  <a:schemeClr val="bg1">
                    <a:lumMod val="85000"/>
                  </a:schemeClr>
                </a:solidFill>
              </a:rPr>
              <a:t> of the </a:t>
            </a:r>
            <a:r>
              <a:rPr lang="pl-PL" dirty="0" err="1">
                <a:solidFill>
                  <a:schemeClr val="bg1">
                    <a:lumMod val="85000"/>
                  </a:schemeClr>
                </a:solidFill>
              </a:rPr>
              <a:t>upper</a:t>
            </a:r>
            <a:r>
              <a:rPr lang="pl-PL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pl-PL" dirty="0" err="1">
                <a:solidFill>
                  <a:schemeClr val="bg1">
                    <a:lumMod val="85000"/>
                  </a:schemeClr>
                </a:solidFill>
              </a:rPr>
              <a:t>hair</a:t>
            </a:r>
            <a:r>
              <a:rPr lang="pl-PL" dirty="0">
                <a:solidFill>
                  <a:schemeClr val="bg1">
                    <a:lumMod val="85000"/>
                  </a:schemeClr>
                </a:solidFill>
              </a:rPr>
              <a:t> region.</a:t>
            </a:r>
          </a:p>
        </p:txBody>
      </p:sp>
      <p:sp>
        <p:nvSpPr>
          <p:cNvPr id="25" name="pole tekstowe 24">
            <a:extLst>
              <a:ext uri="{FF2B5EF4-FFF2-40B4-BE49-F238E27FC236}">
                <a16:creationId xmlns:a16="http://schemas.microsoft.com/office/drawing/2014/main" id="{0AD5883C-0E83-519F-E8BF-C8CFB7035B4F}"/>
              </a:ext>
            </a:extLst>
          </p:cNvPr>
          <p:cNvSpPr txBox="1"/>
          <p:nvPr/>
        </p:nvSpPr>
        <p:spPr>
          <a:xfrm>
            <a:off x="1802295" y="2142675"/>
            <a:ext cx="1868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err="1">
                <a:solidFill>
                  <a:schemeClr val="bg1">
                    <a:lumMod val="85000"/>
                  </a:schemeClr>
                </a:solidFill>
              </a:rPr>
              <a:t>Female</a:t>
            </a:r>
            <a:r>
              <a:rPr lang="pl-PL" dirty="0">
                <a:solidFill>
                  <a:schemeClr val="bg1">
                    <a:lumMod val="85000"/>
                  </a:schemeClr>
                </a:solidFill>
              </a:rPr>
              <a:t>, Black </a:t>
            </a:r>
            <a:r>
              <a:rPr lang="pl-PL" dirty="0" err="1">
                <a:solidFill>
                  <a:schemeClr val="bg1">
                    <a:lumMod val="85000"/>
                  </a:schemeClr>
                </a:solidFill>
              </a:rPr>
              <a:t>hair</a:t>
            </a:r>
            <a:endParaRPr lang="pl-PL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6" name="pole tekstowe 25">
            <a:extLst>
              <a:ext uri="{FF2B5EF4-FFF2-40B4-BE49-F238E27FC236}">
                <a16:creationId xmlns:a16="http://schemas.microsoft.com/office/drawing/2014/main" id="{189DB5A7-9609-3072-D204-E8B196BB9599}"/>
              </a:ext>
            </a:extLst>
          </p:cNvPr>
          <p:cNvSpPr txBox="1"/>
          <p:nvPr/>
        </p:nvSpPr>
        <p:spPr>
          <a:xfrm>
            <a:off x="7663495" y="2142675"/>
            <a:ext cx="2206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err="1">
                <a:solidFill>
                  <a:schemeClr val="bg1">
                    <a:lumMod val="85000"/>
                  </a:schemeClr>
                </a:solidFill>
              </a:rPr>
              <a:t>Female</a:t>
            </a:r>
            <a:r>
              <a:rPr lang="pl-PL" dirty="0">
                <a:solidFill>
                  <a:schemeClr val="bg1">
                    <a:lumMod val="85000"/>
                  </a:schemeClr>
                </a:solidFill>
              </a:rPr>
              <a:t>, </a:t>
            </a:r>
            <a:r>
              <a:rPr lang="pl-PL" dirty="0" err="1">
                <a:solidFill>
                  <a:schemeClr val="bg1">
                    <a:lumMod val="85000"/>
                  </a:schemeClr>
                </a:solidFill>
              </a:rPr>
              <a:t>Bald</a:t>
            </a:r>
            <a:endParaRPr lang="pl-PL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680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rostokąt 21">
            <a:extLst>
              <a:ext uri="{FF2B5EF4-FFF2-40B4-BE49-F238E27FC236}">
                <a16:creationId xmlns:a16="http://schemas.microsoft.com/office/drawing/2014/main" id="{73727BEB-D3A6-4842-BDC3-0247AC081AA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334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300" b="1">
                <a:solidFill>
                  <a:srgbClr val="F6F7FB"/>
                </a:solidFill>
              </a:defRPr>
            </a:pPr>
            <a:r>
              <a:rPr sz="3300" b="1">
                <a:solidFill>
                  <a:srgbClr val="F6F7FB"/>
                </a:solidFill>
              </a:rPr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156594168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335</Words>
  <Application>Microsoft Office PowerPoint</Application>
  <DocSecurity>0</DocSecurity>
  <PresentationFormat>Panoramiczny</PresentationFormat>
  <Paragraphs>45</Paragraphs>
  <Slides>10</Slides>
  <Notes>10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10</vt:i4>
      </vt:variant>
    </vt:vector>
  </HeadingPairs>
  <TitlesOfParts>
    <vt:vector size="13" baseType="lpstr">
      <vt:lpstr>Arial</vt:lpstr>
      <vt:lpstr>Calibri</vt:lpstr>
      <vt:lpstr>ChatGPT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Piotr Waszak</cp:lastModifiedBy>
  <cp:revision>10</cp:revision>
  <dcterms:created xsi:type="dcterms:W3CDTF">2026-06-21T21:30:11Z</dcterms:created>
  <dcterms:modified xsi:type="dcterms:W3CDTF">2026-06-21T23:29:01Z</dcterms:modified>
</cp:coreProperties>
</file>